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21317" y="1120973"/>
            <a:ext cx="3101218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AIアニメスタジオ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598085" y="1825823"/>
            <a:ext cx="3947681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AEB6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ブランディング戦略リサーチレポート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484169" y="2260699"/>
            <a:ext cx="217551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0"/>
              </a:spcAft>
              <a:buNone/>
            </a:pPr>
            <a:r>
              <a:rPr lang="en-US" sz="1400" dirty="0">
                <a:solidFill>
                  <a:srgbClr val="F1C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ポジショニングマップ分析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064050" y="2898874"/>
            <a:ext cx="1015901" cy="25301"/>
          </a:xfrm>
          <a:prstGeom prst="rect">
            <a:avLst/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399828" y="3355925"/>
            <a:ext cx="434419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dirty="0">
                <a:solidFill>
                  <a:srgbClr val="859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国内18社・海外11社のアニメーションスタジオ事例分析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399828" y="3606701"/>
            <a:ext cx="434419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dirty="0">
                <a:solidFill>
                  <a:srgbClr val="859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横軸: 受託メイン ⇔ オリジナル制作メイン / 縦軸: スタジオ人数規模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399828" y="3857476"/>
            <a:ext cx="434419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dirty="0">
                <a:solidFill>
                  <a:srgbClr val="859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調査日: 2026年2月24日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9900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" y="152400"/>
            <a:ext cx="8705088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ポジショニングマップ（設立時）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04800" y="536525"/>
            <a:ext cx="870508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859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横軸: 受託 ⇔ オリジナル / 縦軸: 人数規模（対数スケール）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31520" y="2926080"/>
            <a:ext cx="7680960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1051560"/>
            <a:ext cx="0" cy="374904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051560"/>
            <a:ext cx="7680960" cy="3749040"/>
          </a:xfrm>
          <a:prstGeom prst="rect">
            <a:avLst/>
          </a:prstGeom>
          <a:ln w="9525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48463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</a:rPr>
              <a:t>受託メイン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0" y="48463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5555"/>
                </a:solidFill>
              </a:rPr>
              <a:t>オリジナルメイン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28600" y="4572439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2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731520" y="4663879"/>
            <a:ext cx="768096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228600" y="4136973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5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731520" y="4228413"/>
            <a:ext cx="768096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228600" y="3807556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10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731520" y="3898996"/>
            <a:ext cx="768096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228600" y="3478139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20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731520" y="3569579"/>
            <a:ext cx="768096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228600" y="3042673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50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731520" y="3134113"/>
            <a:ext cx="768096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228600" y="2713255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100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731520" y="2804695"/>
            <a:ext cx="768096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228600" y="238383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200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731520" y="2475278"/>
            <a:ext cx="768096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228600" y="1948372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500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731520" y="2039812"/>
            <a:ext cx="768096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228600" y="1618955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1K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731520" y="1710395"/>
            <a:ext cx="768096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228600" y="1289537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2K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731520" y="1380977"/>
            <a:ext cx="768096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182880" y="82296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5555"/>
                </a:solidFill>
              </a:rPr>
              <a:t>人数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861699" y="3244186"/>
            <a:ext cx="118872" cy="118872"/>
          </a:xfrm>
          <a:prstGeom prst="oval">
            <a:avLst/>
          </a:prstGeom>
          <a:solidFill>
            <a:srgbClr val="3498DB"/>
          </a:solidFill>
          <a:ln w="6350">
            <a:solidFill>
              <a:srgbClr val="2980B9"/>
            </a:solidFill>
            <a:prstDash val="solid"/>
          </a:ln>
          <a:effectLst>
            <a:outerShdw sx="100000" sy="100000" kx="0" ky="0" algn="bl" rotWithShape="0" blurRad="25400" dist="12700" dir="16200000">
              <a:srgbClr val="000000">
                <a:alpha val="2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068622" y="3839560"/>
            <a:ext cx="118872" cy="118872"/>
          </a:xfrm>
          <a:prstGeom prst="oval">
            <a:avLst/>
          </a:prstGeom>
          <a:solidFill>
            <a:srgbClr val="3498DB"/>
          </a:solidFill>
          <a:ln w="6350">
            <a:solidFill>
              <a:srgbClr val="2980B9"/>
            </a:solidFill>
            <a:prstDash val="solid"/>
          </a:ln>
          <a:effectLst>
            <a:outerShdw sx="100000" sy="100000" kx="0" ky="0" algn="bl" rotWithShape="0" blurRad="25400" dist="12700" dir="16200000">
              <a:srgbClr val="000000">
                <a:alpha val="2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559968" y="4009069"/>
            <a:ext cx="118872" cy="118872"/>
          </a:xfrm>
          <a:prstGeom prst="oval">
            <a:avLst/>
          </a:prstGeom>
          <a:solidFill>
            <a:srgbClr val="3498DB"/>
          </a:solidFill>
          <a:ln w="6350">
            <a:solidFill>
              <a:srgbClr val="2980B9"/>
            </a:solidFill>
            <a:prstDash val="solid"/>
          </a:ln>
          <a:effectLst>
            <a:outerShdw sx="100000" sy="100000" kx="0" ky="0" algn="bl" rotWithShape="0" blurRad="25400" dist="12700" dir="16200000">
              <a:srgbClr val="000000">
                <a:alpha val="2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512564" y="3839560"/>
            <a:ext cx="118872" cy="118872"/>
          </a:xfrm>
          <a:prstGeom prst="oval">
            <a:avLst/>
          </a:prstGeom>
          <a:solidFill>
            <a:srgbClr val="3498DB"/>
          </a:solidFill>
          <a:ln w="6350">
            <a:solidFill>
              <a:srgbClr val="2980B9"/>
            </a:solidFill>
            <a:prstDash val="solid"/>
          </a:ln>
          <a:effectLst>
            <a:outerShdw sx="100000" sy="100000" kx="0" ky="0" algn="bl" rotWithShape="0" blurRad="25400" dist="12700" dir="16200000">
              <a:srgbClr val="000000">
                <a:alpha val="2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068622" y="4168977"/>
            <a:ext cx="118872" cy="118872"/>
          </a:xfrm>
          <a:prstGeom prst="oval">
            <a:avLst/>
          </a:prstGeom>
          <a:solidFill>
            <a:srgbClr val="3498DB"/>
          </a:solidFill>
          <a:ln w="6350">
            <a:solidFill>
              <a:srgbClr val="2980B9"/>
            </a:solidFill>
            <a:prstDash val="solid"/>
          </a:ln>
          <a:effectLst>
            <a:outerShdw sx="100000" sy="100000" kx="0" ky="0" algn="bl" rotWithShape="0" blurRad="25400" dist="12700" dir="16200000">
              <a:srgbClr val="000000">
                <a:alpha val="2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465160" y="3839560"/>
            <a:ext cx="118872" cy="118872"/>
          </a:xfrm>
          <a:prstGeom prst="oval">
            <a:avLst/>
          </a:prstGeom>
          <a:solidFill>
            <a:srgbClr val="3498DB"/>
          </a:solidFill>
          <a:ln w="6350">
            <a:solidFill>
              <a:srgbClr val="2980B9"/>
            </a:solidFill>
            <a:prstDash val="solid"/>
          </a:ln>
          <a:effectLst>
            <a:outerShdw sx="100000" sy="100000" kx="0" ky="0" algn="bl" rotWithShape="0" blurRad="25400" dist="12700" dir="16200000">
              <a:srgbClr val="000000">
                <a:alpha val="2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814295" y="3839560"/>
            <a:ext cx="118872" cy="118872"/>
          </a:xfrm>
          <a:prstGeom prst="oval">
            <a:avLst/>
          </a:prstGeom>
          <a:solidFill>
            <a:srgbClr val="3498DB"/>
          </a:solidFill>
          <a:ln w="6350">
            <a:solidFill>
              <a:srgbClr val="2980B9"/>
            </a:solidFill>
            <a:prstDash val="solid"/>
          </a:ln>
          <a:effectLst>
            <a:outerShdw sx="100000" sy="100000" kx="0" ky="0" algn="bl" rotWithShape="0" blurRad="25400" dist="12700" dir="16200000">
              <a:srgbClr val="000000">
                <a:alpha val="2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068622" y="2745259"/>
            <a:ext cx="118872" cy="118872"/>
          </a:xfrm>
          <a:prstGeom prst="oval">
            <a:avLst/>
          </a:prstGeom>
          <a:solidFill>
            <a:srgbClr val="3498DB"/>
          </a:solidFill>
          <a:ln w="6350">
            <a:solidFill>
              <a:srgbClr val="2980B9"/>
            </a:solidFill>
            <a:prstDash val="solid"/>
          </a:ln>
          <a:effectLst>
            <a:outerShdw sx="100000" sy="100000" kx="0" ky="0" algn="bl" rotWithShape="0" blurRad="25400" dist="12700" dir="16200000">
              <a:srgbClr val="000000">
                <a:alpha val="2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2068622" y="3317446"/>
            <a:ext cx="118872" cy="118872"/>
          </a:xfrm>
          <a:prstGeom prst="oval">
            <a:avLst/>
          </a:prstGeom>
          <a:solidFill>
            <a:srgbClr val="3498DB"/>
          </a:solidFill>
          <a:ln w="6350">
            <a:solidFill>
              <a:srgbClr val="2980B9"/>
            </a:solidFill>
            <a:prstDash val="solid"/>
          </a:ln>
          <a:effectLst>
            <a:outerShdw sx="100000" sy="100000" kx="0" ky="0" algn="bl" rotWithShape="0" blurRad="25400" dist="12700" dir="16200000">
              <a:srgbClr val="000000">
                <a:alpha val="2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607371" y="4168977"/>
            <a:ext cx="118872" cy="118872"/>
          </a:xfrm>
          <a:prstGeom prst="oval">
            <a:avLst/>
          </a:prstGeom>
          <a:solidFill>
            <a:srgbClr val="3498DB"/>
          </a:solidFill>
          <a:ln w="6350">
            <a:solidFill>
              <a:srgbClr val="2980B9"/>
            </a:solidFill>
            <a:prstDash val="solid"/>
          </a:ln>
          <a:effectLst>
            <a:outerShdw sx="100000" sy="100000" kx="0" ky="0" algn="bl" rotWithShape="0" blurRad="25400" dist="12700" dir="16200000">
              <a:srgbClr val="000000">
                <a:alpha val="2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2417757" y="4168977"/>
            <a:ext cx="118872" cy="118872"/>
          </a:xfrm>
          <a:prstGeom prst="oval">
            <a:avLst/>
          </a:prstGeom>
          <a:solidFill>
            <a:srgbClr val="3498DB"/>
          </a:solidFill>
          <a:ln w="6350">
            <a:solidFill>
              <a:srgbClr val="2980B9"/>
            </a:solidFill>
            <a:prstDash val="solid"/>
          </a:ln>
          <a:effectLst>
            <a:outerShdw sx="100000" sy="100000" kx="0" ky="0" algn="bl" rotWithShape="0" blurRad="25400" dist="12700" dir="16200000">
              <a:srgbClr val="000000">
                <a:alpha val="2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512564" y="3945609"/>
            <a:ext cx="118872" cy="118872"/>
          </a:xfrm>
          <a:prstGeom prst="oval">
            <a:avLst/>
          </a:prstGeom>
          <a:solidFill>
            <a:srgbClr val="3498DB"/>
          </a:solidFill>
          <a:ln w="6350">
            <a:solidFill>
              <a:srgbClr val="2980B9"/>
            </a:solidFill>
            <a:prstDash val="solid"/>
          </a:ln>
          <a:effectLst>
            <a:outerShdw sx="100000" sy="100000" kx="0" ky="0" algn="bl" rotWithShape="0" blurRad="25400" dist="12700" dir="16200000">
              <a:srgbClr val="000000">
                <a:alpha val="2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2417757" y="4275026"/>
            <a:ext cx="118872" cy="118872"/>
          </a:xfrm>
          <a:prstGeom prst="oval">
            <a:avLst/>
          </a:prstGeom>
          <a:solidFill>
            <a:srgbClr val="3498DB"/>
          </a:solidFill>
          <a:ln w="6350">
            <a:solidFill>
              <a:srgbClr val="2980B9"/>
            </a:solidFill>
            <a:prstDash val="solid"/>
          </a:ln>
          <a:effectLst>
            <a:outerShdw sx="100000" sy="100000" kx="0" ky="0" algn="bl" rotWithShape="0" blurRad="25400" dist="12700" dir="16200000">
              <a:srgbClr val="000000">
                <a:alpha val="2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2068622" y="4168977"/>
            <a:ext cx="118872" cy="118872"/>
          </a:xfrm>
          <a:prstGeom prst="oval">
            <a:avLst/>
          </a:prstGeom>
          <a:solidFill>
            <a:srgbClr val="3498DB"/>
          </a:solidFill>
          <a:ln w="6350">
            <a:solidFill>
              <a:srgbClr val="2980B9"/>
            </a:solidFill>
            <a:prstDash val="solid"/>
          </a:ln>
          <a:effectLst>
            <a:outerShdw sx="100000" sy="100000" kx="0" ky="0" algn="bl" rotWithShape="0" blurRad="25400" dist="12700" dir="16200000">
              <a:srgbClr val="000000">
                <a:alpha val="2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2417757" y="4168977"/>
            <a:ext cx="118872" cy="118872"/>
          </a:xfrm>
          <a:prstGeom prst="oval">
            <a:avLst/>
          </a:prstGeom>
          <a:solidFill>
            <a:srgbClr val="3498DB"/>
          </a:solidFill>
          <a:ln w="6350">
            <a:solidFill>
              <a:srgbClr val="2980B9"/>
            </a:solidFill>
            <a:prstDash val="solid"/>
          </a:ln>
          <a:effectLst>
            <a:outerShdw sx="100000" sy="100000" kx="0" ky="0" algn="bl" rotWithShape="0" blurRad="25400" dist="12700" dir="16200000">
              <a:srgbClr val="000000">
                <a:alpha val="2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861699" y="4275026"/>
            <a:ext cx="118872" cy="118872"/>
          </a:xfrm>
          <a:prstGeom prst="oval">
            <a:avLst/>
          </a:prstGeom>
          <a:solidFill>
            <a:srgbClr val="3498DB"/>
          </a:solidFill>
          <a:ln w="6350">
            <a:solidFill>
              <a:srgbClr val="2980B9"/>
            </a:solidFill>
            <a:prstDash val="solid"/>
          </a:ln>
          <a:effectLst>
            <a:outerShdw sx="100000" sy="100000" kx="0" ky="0" algn="bl" rotWithShape="0" blurRad="25400" dist="12700" dir="16200000">
              <a:srgbClr val="000000">
                <a:alpha val="2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258237" y="4168977"/>
            <a:ext cx="118872" cy="118872"/>
          </a:xfrm>
          <a:prstGeom prst="oval">
            <a:avLst/>
          </a:prstGeom>
          <a:solidFill>
            <a:srgbClr val="3498DB"/>
          </a:solidFill>
          <a:ln w="6350">
            <a:solidFill>
              <a:srgbClr val="2980B9"/>
            </a:solidFill>
            <a:prstDash val="solid"/>
          </a:ln>
          <a:effectLst>
            <a:outerShdw sx="100000" sy="100000" kx="0" ky="0" algn="bl" rotWithShape="0" blurRad="25400" dist="12700" dir="16200000">
              <a:srgbClr val="000000">
                <a:alpha val="2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607371" y="4604443"/>
            <a:ext cx="118872" cy="118872"/>
          </a:xfrm>
          <a:prstGeom prst="oval">
            <a:avLst/>
          </a:prstGeom>
          <a:solidFill>
            <a:srgbClr val="3498DB"/>
          </a:solidFill>
          <a:ln w="6350">
            <a:solidFill>
              <a:srgbClr val="2980B9"/>
            </a:solidFill>
            <a:prstDash val="solid"/>
          </a:ln>
          <a:effectLst>
            <a:outerShdw sx="100000" sy="100000" kx="0" ky="0" algn="bl" rotWithShape="0" blurRad="25400" dist="12700" dir="16200000">
              <a:srgbClr val="000000">
                <a:alpha val="2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7654775" y="3180725"/>
            <a:ext cx="118872" cy="118872"/>
          </a:xfrm>
          <a:prstGeom prst="oval">
            <a:avLst/>
          </a:prstGeom>
          <a:solidFill>
            <a:srgbClr val="E74C3C"/>
          </a:solidFill>
          <a:ln w="6350">
            <a:solidFill>
              <a:srgbClr val="C0392B"/>
            </a:solidFill>
            <a:prstDash val="solid"/>
          </a:ln>
          <a:effectLst>
            <a:outerShdw sx="100000" sy="100000" kx="0" ky="0" algn="bl" rotWithShape="0" blurRad="25400" dist="12700" dir="16200000">
              <a:srgbClr val="000000">
                <a:alpha val="2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7305640" y="2309793"/>
            <a:ext cx="118872" cy="118872"/>
          </a:xfrm>
          <a:prstGeom prst="oval">
            <a:avLst/>
          </a:prstGeom>
          <a:solidFill>
            <a:srgbClr val="E74C3C"/>
          </a:solidFill>
          <a:ln w="6350">
            <a:solidFill>
              <a:srgbClr val="C0392B"/>
            </a:solidFill>
            <a:prstDash val="solid"/>
          </a:ln>
          <a:effectLst>
            <a:outerShdw sx="100000" sy="100000" kx="0" ky="0" algn="bl" rotWithShape="0" blurRad="25400" dist="12700" dir="16200000">
              <a:srgbClr val="000000">
                <a:alpha val="2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7305640" y="3839560"/>
            <a:ext cx="118872" cy="118872"/>
          </a:xfrm>
          <a:prstGeom prst="oval">
            <a:avLst/>
          </a:prstGeom>
          <a:solidFill>
            <a:srgbClr val="E74C3C"/>
          </a:solidFill>
          <a:ln w="6350">
            <a:solidFill>
              <a:srgbClr val="C0392B"/>
            </a:solidFill>
            <a:prstDash val="solid"/>
          </a:ln>
          <a:effectLst>
            <a:outerShdw sx="100000" sy="100000" kx="0" ky="0" algn="bl" rotWithShape="0" blurRad="25400" dist="12700" dir="16200000">
              <a:srgbClr val="000000">
                <a:alpha val="2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3814295" y="4411747"/>
            <a:ext cx="118872" cy="118872"/>
          </a:xfrm>
          <a:prstGeom prst="oval">
            <a:avLst/>
          </a:prstGeom>
          <a:solidFill>
            <a:srgbClr val="E74C3C"/>
          </a:solidFill>
          <a:ln w="6350">
            <a:solidFill>
              <a:srgbClr val="C0392B"/>
            </a:solidFill>
            <a:prstDash val="solid"/>
          </a:ln>
          <a:effectLst>
            <a:outerShdw sx="100000" sy="100000" kx="0" ky="0" algn="bl" rotWithShape="0" blurRad="25400" dist="12700" dir="16200000">
              <a:srgbClr val="000000">
                <a:alpha val="2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2068622" y="4604443"/>
            <a:ext cx="118872" cy="118872"/>
          </a:xfrm>
          <a:prstGeom prst="oval">
            <a:avLst/>
          </a:prstGeom>
          <a:solidFill>
            <a:srgbClr val="E74C3C"/>
          </a:solidFill>
          <a:ln w="6350">
            <a:solidFill>
              <a:srgbClr val="C0392B"/>
            </a:solidFill>
            <a:prstDash val="solid"/>
          </a:ln>
          <a:effectLst>
            <a:outerShdw sx="100000" sy="100000" kx="0" ky="0" algn="bl" rotWithShape="0" blurRad="25400" dist="12700" dir="16200000">
              <a:srgbClr val="000000">
                <a:alpha val="2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6956506" y="4411747"/>
            <a:ext cx="118872" cy="118872"/>
          </a:xfrm>
          <a:prstGeom prst="oval">
            <a:avLst/>
          </a:prstGeom>
          <a:solidFill>
            <a:srgbClr val="E74C3C"/>
          </a:solidFill>
          <a:ln w="6350">
            <a:solidFill>
              <a:srgbClr val="C0392B"/>
            </a:solidFill>
            <a:prstDash val="solid"/>
          </a:ln>
          <a:effectLst>
            <a:outerShdw sx="100000" sy="100000" kx="0" ky="0" algn="bl" rotWithShape="0" blurRad="25400" dist="12700" dir="16200000">
              <a:srgbClr val="000000">
                <a:alpha val="20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4163429" y="4411747"/>
            <a:ext cx="118872" cy="118872"/>
          </a:xfrm>
          <a:prstGeom prst="oval">
            <a:avLst/>
          </a:prstGeom>
          <a:solidFill>
            <a:srgbClr val="E74C3C"/>
          </a:solidFill>
          <a:ln w="6350">
            <a:solidFill>
              <a:srgbClr val="C0392B"/>
            </a:solidFill>
            <a:prstDash val="solid"/>
          </a:ln>
          <a:effectLst>
            <a:outerShdw sx="100000" sy="100000" kx="0" ky="0" algn="bl" rotWithShape="0" blurRad="25400" dist="12700" dir="16200000">
              <a:srgbClr val="000000">
                <a:alpha val="20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1370353" y="3510143"/>
            <a:ext cx="118872" cy="118872"/>
          </a:xfrm>
          <a:prstGeom prst="oval">
            <a:avLst/>
          </a:prstGeom>
          <a:solidFill>
            <a:srgbClr val="E74C3C"/>
          </a:solidFill>
          <a:ln w="6350">
            <a:solidFill>
              <a:srgbClr val="C0392B"/>
            </a:solidFill>
            <a:prstDash val="solid"/>
          </a:ln>
          <a:effectLst>
            <a:outerShdw sx="100000" sy="100000" kx="0" ky="0" algn="bl" rotWithShape="0" blurRad="25400" dist="12700" dir="16200000">
              <a:srgbClr val="000000">
                <a:alpha val="20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2068622" y="3510143"/>
            <a:ext cx="118872" cy="118872"/>
          </a:xfrm>
          <a:prstGeom prst="oval">
            <a:avLst/>
          </a:prstGeom>
          <a:solidFill>
            <a:srgbClr val="E74C3C"/>
          </a:solidFill>
          <a:ln w="6350">
            <a:solidFill>
              <a:srgbClr val="C0392B"/>
            </a:solidFill>
            <a:prstDash val="solid"/>
          </a:ln>
          <a:effectLst>
            <a:outerShdw sx="100000" sy="100000" kx="0" ky="0" algn="bl" rotWithShape="0" blurRad="25400" dist="12700" dir="16200000">
              <a:srgbClr val="000000">
                <a:alpha val="20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3814295" y="4168977"/>
            <a:ext cx="118872" cy="118872"/>
          </a:xfrm>
          <a:prstGeom prst="oval">
            <a:avLst/>
          </a:prstGeom>
          <a:solidFill>
            <a:srgbClr val="E74C3C"/>
          </a:solidFill>
          <a:ln w="6350">
            <a:solidFill>
              <a:srgbClr val="C0392B"/>
            </a:solidFill>
            <a:prstDash val="solid"/>
          </a:ln>
          <a:effectLst>
            <a:outerShdw sx="100000" sy="100000" kx="0" ky="0" algn="bl" rotWithShape="0" blurRad="25400" dist="12700" dir="16200000">
              <a:srgbClr val="000000">
                <a:alpha val="20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7305640" y="4604443"/>
            <a:ext cx="118872" cy="118872"/>
          </a:xfrm>
          <a:prstGeom prst="oval">
            <a:avLst/>
          </a:prstGeom>
          <a:solidFill>
            <a:srgbClr val="E74C3C"/>
          </a:solidFill>
          <a:ln w="6350">
            <a:solidFill>
              <a:srgbClr val="C0392B"/>
            </a:solidFill>
            <a:prstDash val="solid"/>
          </a:ln>
          <a:effectLst>
            <a:outerShdw sx="100000" sy="100000" kx="0" ky="0" algn="bl" rotWithShape="0" blurRad="25400" dist="12700" dir="16200000">
              <a:srgbClr val="000000">
                <a:alpha val="20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4994287" y="3193894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東映アニメ</a:t>
            </a:r>
            <a:endParaRPr lang="en-US" sz="550" dirty="0"/>
          </a:p>
        </p:txBody>
      </p:sp>
      <p:sp>
        <p:nvSpPr>
          <p:cNvPr id="61" name="Text 59"/>
          <p:cNvSpPr/>
          <p:nvPr/>
        </p:nvSpPr>
        <p:spPr>
          <a:xfrm>
            <a:off x="2201210" y="3789268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トムス</a:t>
            </a:r>
            <a:endParaRPr lang="en-US" sz="550" dirty="0"/>
          </a:p>
        </p:txBody>
      </p:sp>
      <p:sp>
        <p:nvSpPr>
          <p:cNvPr id="62" name="Text 60"/>
          <p:cNvSpPr/>
          <p:nvPr/>
        </p:nvSpPr>
        <p:spPr>
          <a:xfrm>
            <a:off x="5692556" y="3958777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BNフィルムワークス</a:t>
            </a:r>
            <a:endParaRPr lang="en-US" sz="550" dirty="0"/>
          </a:p>
        </p:txBody>
      </p:sp>
      <p:sp>
        <p:nvSpPr>
          <p:cNvPr id="63" name="Text 61"/>
          <p:cNvSpPr/>
          <p:nvPr/>
        </p:nvSpPr>
        <p:spPr>
          <a:xfrm>
            <a:off x="4645152" y="3789268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I.G</a:t>
            </a:r>
            <a:endParaRPr lang="en-US" sz="550" dirty="0"/>
          </a:p>
        </p:txBody>
      </p:sp>
      <p:sp>
        <p:nvSpPr>
          <p:cNvPr id="64" name="Text 62"/>
          <p:cNvSpPr/>
          <p:nvPr/>
        </p:nvSpPr>
        <p:spPr>
          <a:xfrm>
            <a:off x="2201210" y="4118685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ufotable</a:t>
            </a:r>
            <a:endParaRPr lang="en-US" sz="550" dirty="0"/>
          </a:p>
        </p:txBody>
      </p:sp>
      <p:sp>
        <p:nvSpPr>
          <p:cNvPr id="65" name="Text 63"/>
          <p:cNvSpPr/>
          <p:nvPr/>
        </p:nvSpPr>
        <p:spPr>
          <a:xfrm>
            <a:off x="3597748" y="3789268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MAPPA</a:t>
            </a:r>
            <a:endParaRPr lang="en-US" sz="550" dirty="0"/>
          </a:p>
        </p:txBody>
      </p:sp>
      <p:sp>
        <p:nvSpPr>
          <p:cNvPr id="66" name="Text 64"/>
          <p:cNvSpPr/>
          <p:nvPr/>
        </p:nvSpPr>
        <p:spPr>
          <a:xfrm>
            <a:off x="3946883" y="3789268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 STUDIO</a:t>
            </a:r>
            <a:endParaRPr lang="en-US" sz="550" dirty="0"/>
          </a:p>
        </p:txBody>
      </p:sp>
      <p:sp>
        <p:nvSpPr>
          <p:cNvPr id="67" name="Text 65"/>
          <p:cNvSpPr/>
          <p:nvPr/>
        </p:nvSpPr>
        <p:spPr>
          <a:xfrm>
            <a:off x="2201210" y="2694967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CloverWorks</a:t>
            </a:r>
            <a:endParaRPr lang="en-US" sz="550" dirty="0"/>
          </a:p>
        </p:txBody>
      </p:sp>
      <p:sp>
        <p:nvSpPr>
          <p:cNvPr id="68" name="Text 66"/>
          <p:cNvSpPr/>
          <p:nvPr/>
        </p:nvSpPr>
        <p:spPr>
          <a:xfrm>
            <a:off x="2201210" y="3267154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A-1 Pictures</a:t>
            </a:r>
            <a:endParaRPr lang="en-US" sz="550" dirty="0"/>
          </a:p>
        </p:txBody>
      </p:sp>
      <p:sp>
        <p:nvSpPr>
          <p:cNvPr id="69" name="Text 67"/>
          <p:cNvSpPr/>
          <p:nvPr/>
        </p:nvSpPr>
        <p:spPr>
          <a:xfrm>
            <a:off x="6739959" y="4118685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京都アニメ</a:t>
            </a:r>
            <a:endParaRPr lang="en-US" sz="550" dirty="0"/>
          </a:p>
        </p:txBody>
      </p:sp>
      <p:sp>
        <p:nvSpPr>
          <p:cNvPr id="70" name="Text 68"/>
          <p:cNvSpPr/>
          <p:nvPr/>
        </p:nvSpPr>
        <p:spPr>
          <a:xfrm>
            <a:off x="2550345" y="4118685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シャフト</a:t>
            </a:r>
            <a:endParaRPr lang="en-US" sz="550" dirty="0"/>
          </a:p>
        </p:txBody>
      </p:sp>
      <p:sp>
        <p:nvSpPr>
          <p:cNvPr id="71" name="Text 69"/>
          <p:cNvSpPr/>
          <p:nvPr/>
        </p:nvSpPr>
        <p:spPr>
          <a:xfrm>
            <a:off x="4645152" y="3895317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ボンズ</a:t>
            </a:r>
            <a:endParaRPr lang="en-US" sz="550" dirty="0"/>
          </a:p>
        </p:txBody>
      </p:sp>
      <p:sp>
        <p:nvSpPr>
          <p:cNvPr id="72" name="Text 70"/>
          <p:cNvSpPr/>
          <p:nvPr/>
        </p:nvSpPr>
        <p:spPr>
          <a:xfrm>
            <a:off x="2550345" y="4224734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マッドハウス</a:t>
            </a:r>
            <a:endParaRPr lang="en-US" sz="550" dirty="0"/>
          </a:p>
        </p:txBody>
      </p:sp>
      <p:sp>
        <p:nvSpPr>
          <p:cNvPr id="73" name="Text 71"/>
          <p:cNvSpPr/>
          <p:nvPr/>
        </p:nvSpPr>
        <p:spPr>
          <a:xfrm>
            <a:off x="2201210" y="4118685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ポリゴンP</a:t>
            </a:r>
            <a:endParaRPr lang="en-US" sz="550" dirty="0"/>
          </a:p>
        </p:txBody>
      </p:sp>
      <p:sp>
        <p:nvSpPr>
          <p:cNvPr id="74" name="Text 72"/>
          <p:cNvSpPr/>
          <p:nvPr/>
        </p:nvSpPr>
        <p:spPr>
          <a:xfrm>
            <a:off x="2550345" y="4118685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オレンジ</a:t>
            </a:r>
            <a:endParaRPr lang="en-US" sz="550" dirty="0"/>
          </a:p>
        </p:txBody>
      </p:sp>
      <p:sp>
        <p:nvSpPr>
          <p:cNvPr id="75" name="Text 73"/>
          <p:cNvSpPr/>
          <p:nvPr/>
        </p:nvSpPr>
        <p:spPr>
          <a:xfrm>
            <a:off x="4994287" y="4224734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Science SARU</a:t>
            </a:r>
            <a:endParaRPr lang="en-US" sz="550" dirty="0"/>
          </a:p>
        </p:txBody>
      </p:sp>
      <p:sp>
        <p:nvSpPr>
          <p:cNvPr id="76" name="Text 74"/>
          <p:cNvSpPr/>
          <p:nvPr/>
        </p:nvSpPr>
        <p:spPr>
          <a:xfrm>
            <a:off x="6390825" y="4118685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Colorido</a:t>
            </a:r>
            <a:endParaRPr lang="en-US" sz="550" dirty="0"/>
          </a:p>
        </p:txBody>
      </p:sp>
      <p:sp>
        <p:nvSpPr>
          <p:cNvPr id="77" name="Text 75"/>
          <p:cNvSpPr/>
          <p:nvPr/>
        </p:nvSpPr>
        <p:spPr>
          <a:xfrm>
            <a:off x="6739959" y="4554151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ツインエンジン</a:t>
            </a:r>
            <a:endParaRPr lang="en-US" sz="550" dirty="0"/>
          </a:p>
        </p:txBody>
      </p:sp>
      <p:sp>
        <p:nvSpPr>
          <p:cNvPr id="78" name="Text 76"/>
          <p:cNvSpPr/>
          <p:nvPr/>
        </p:nvSpPr>
        <p:spPr>
          <a:xfrm>
            <a:off x="7787363" y="3130433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922B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Pixar</a:t>
            </a:r>
            <a:endParaRPr lang="en-US" sz="550" dirty="0"/>
          </a:p>
        </p:txBody>
      </p:sp>
      <p:sp>
        <p:nvSpPr>
          <p:cNvPr id="79" name="Text 77"/>
          <p:cNvSpPr/>
          <p:nvPr/>
        </p:nvSpPr>
        <p:spPr>
          <a:xfrm>
            <a:off x="7438228" y="2259501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922B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DreamWorks</a:t>
            </a:r>
            <a:endParaRPr lang="en-US" sz="550" dirty="0"/>
          </a:p>
        </p:txBody>
      </p:sp>
      <p:sp>
        <p:nvSpPr>
          <p:cNvPr id="80" name="Text 78"/>
          <p:cNvSpPr/>
          <p:nvPr/>
        </p:nvSpPr>
        <p:spPr>
          <a:xfrm>
            <a:off x="7438228" y="3789268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922B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Illumination</a:t>
            </a:r>
            <a:endParaRPr lang="en-US" sz="550" dirty="0"/>
          </a:p>
        </p:txBody>
      </p:sp>
      <p:sp>
        <p:nvSpPr>
          <p:cNvPr id="81" name="Text 79"/>
          <p:cNvSpPr/>
          <p:nvPr/>
        </p:nvSpPr>
        <p:spPr>
          <a:xfrm>
            <a:off x="3946883" y="4361455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922B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Powerhouse</a:t>
            </a:r>
            <a:endParaRPr lang="en-US" sz="550" dirty="0"/>
          </a:p>
        </p:txBody>
      </p:sp>
      <p:sp>
        <p:nvSpPr>
          <p:cNvPr id="82" name="Text 80"/>
          <p:cNvSpPr/>
          <p:nvPr/>
        </p:nvSpPr>
        <p:spPr>
          <a:xfrm>
            <a:off x="2201210" y="4554151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922B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Titmouse</a:t>
            </a:r>
            <a:endParaRPr lang="en-US" sz="550" dirty="0"/>
          </a:p>
        </p:txBody>
      </p:sp>
      <p:sp>
        <p:nvSpPr>
          <p:cNvPr id="83" name="Text 81"/>
          <p:cNvSpPr/>
          <p:nvPr/>
        </p:nvSpPr>
        <p:spPr>
          <a:xfrm>
            <a:off x="7089094" y="4361455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922B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Cartoon Saloon</a:t>
            </a:r>
            <a:endParaRPr lang="en-US" sz="550" dirty="0"/>
          </a:p>
        </p:txBody>
      </p:sp>
      <p:sp>
        <p:nvSpPr>
          <p:cNvPr id="84" name="Text 82"/>
          <p:cNvSpPr/>
          <p:nvPr/>
        </p:nvSpPr>
        <p:spPr>
          <a:xfrm>
            <a:off x="4296017" y="4361455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922B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Fortiche</a:t>
            </a:r>
            <a:endParaRPr lang="en-US" sz="550" dirty="0"/>
          </a:p>
        </p:txBody>
      </p:sp>
      <p:sp>
        <p:nvSpPr>
          <p:cNvPr id="85" name="Text 83"/>
          <p:cNvSpPr/>
          <p:nvPr/>
        </p:nvSpPr>
        <p:spPr>
          <a:xfrm>
            <a:off x="1502941" y="3459851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922B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 Movie</a:t>
            </a:r>
            <a:endParaRPr lang="en-US" sz="550" dirty="0"/>
          </a:p>
        </p:txBody>
      </p:sp>
      <p:sp>
        <p:nvSpPr>
          <p:cNvPr id="86" name="Text 84"/>
          <p:cNvSpPr/>
          <p:nvPr/>
        </p:nvSpPr>
        <p:spPr>
          <a:xfrm>
            <a:off x="2201210" y="3459851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922B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 Mir</a:t>
            </a:r>
            <a:endParaRPr lang="en-US" sz="550" dirty="0"/>
          </a:p>
        </p:txBody>
      </p:sp>
      <p:sp>
        <p:nvSpPr>
          <p:cNvPr id="87" name="Text 85"/>
          <p:cNvSpPr/>
          <p:nvPr/>
        </p:nvSpPr>
        <p:spPr>
          <a:xfrm>
            <a:off x="3946883" y="4118685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922B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Haoliners</a:t>
            </a:r>
            <a:endParaRPr lang="en-US" sz="550" dirty="0"/>
          </a:p>
        </p:txBody>
      </p:sp>
      <p:sp>
        <p:nvSpPr>
          <p:cNvPr id="88" name="Text 86"/>
          <p:cNvSpPr/>
          <p:nvPr/>
        </p:nvSpPr>
        <p:spPr>
          <a:xfrm>
            <a:off x="7438228" y="4554151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922B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Tonko House</a:t>
            </a:r>
            <a:endParaRPr lang="en-US" sz="550" dirty="0"/>
          </a:p>
        </p:txBody>
      </p:sp>
      <p:sp>
        <p:nvSpPr>
          <p:cNvPr id="89" name="Shape 87"/>
          <p:cNvSpPr/>
          <p:nvPr/>
        </p:nvSpPr>
        <p:spPr>
          <a:xfrm>
            <a:off x="6400800" y="1143000"/>
            <a:ext cx="1920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sx="100000" sy="100000" kx="0" ky="0" algn="bl" rotWithShape="0" blurRad="25400" dist="12700" dir="16200000">
              <a:srgbClr val="000000">
                <a:alpha val="10000"/>
              </a:srgbClr>
            </a:outerShdw>
          </a:effectLst>
        </p:spPr>
      </p:sp>
      <p:sp>
        <p:nvSpPr>
          <p:cNvPr id="90" name="Shape 88"/>
          <p:cNvSpPr/>
          <p:nvPr/>
        </p:nvSpPr>
        <p:spPr>
          <a:xfrm>
            <a:off x="6492240" y="1216152"/>
            <a:ext cx="91440" cy="91440"/>
          </a:xfrm>
          <a:prstGeom prst="oval">
            <a:avLst/>
          </a:prstGeom>
          <a:solidFill>
            <a:srgbClr val="3498DB"/>
          </a:solidFill>
          <a:ln/>
        </p:spPr>
      </p:sp>
      <p:sp>
        <p:nvSpPr>
          <p:cNvPr id="91" name="Text 89"/>
          <p:cNvSpPr/>
          <p:nvPr/>
        </p:nvSpPr>
        <p:spPr>
          <a:xfrm>
            <a:off x="6629400" y="117043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</a:rPr>
              <a:t>国内スタジオ</a:t>
            </a:r>
            <a:endParaRPr lang="en-US" sz="700" dirty="0"/>
          </a:p>
        </p:txBody>
      </p:sp>
      <p:sp>
        <p:nvSpPr>
          <p:cNvPr id="92" name="Shape 90"/>
          <p:cNvSpPr/>
          <p:nvPr/>
        </p:nvSpPr>
        <p:spPr>
          <a:xfrm>
            <a:off x="7406640" y="1216152"/>
            <a:ext cx="91440" cy="91440"/>
          </a:xfrm>
          <a:prstGeom prst="oval">
            <a:avLst/>
          </a:prstGeom>
          <a:solidFill>
            <a:srgbClr val="E74C3C"/>
          </a:solidFill>
          <a:ln/>
        </p:spPr>
      </p:sp>
      <p:sp>
        <p:nvSpPr>
          <p:cNvPr id="93" name="Text 91"/>
          <p:cNvSpPr/>
          <p:nvPr/>
        </p:nvSpPr>
        <p:spPr>
          <a:xfrm>
            <a:off x="7543800" y="117043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</a:rPr>
              <a:t>海外スタジオ</a:t>
            </a:r>
            <a:endParaRPr lang="en-US" sz="700" dirty="0"/>
          </a:p>
        </p:txBody>
      </p:sp>
      <p:sp>
        <p:nvSpPr>
          <p:cNvPr id="94" name="Shape 92"/>
          <p:cNvSpPr/>
          <p:nvPr/>
        </p:nvSpPr>
        <p:spPr>
          <a:xfrm>
            <a:off x="6492240" y="1399032"/>
            <a:ext cx="91440" cy="91440"/>
          </a:xfrm>
          <a:prstGeom prst="oval">
            <a:avLst/>
          </a:prstGeom>
          <a:solidFill>
            <a:srgbClr val="F1C40F"/>
          </a:solidFill>
          <a:ln/>
        </p:spPr>
      </p:sp>
      <p:sp>
        <p:nvSpPr>
          <p:cNvPr id="95" name="Text 93"/>
          <p:cNvSpPr/>
          <p:nvPr/>
        </p:nvSpPr>
        <p:spPr>
          <a:xfrm>
            <a:off x="6629400" y="135331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</a:rPr>
              <a:t>当社（提案）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9900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" y="152400"/>
            <a:ext cx="8705088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ポジショニングマップ（現在）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04800" y="536525"/>
            <a:ext cx="870508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859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横軸: 受託 ⇔ オリジナル / 縦軸: 人数規模（対数スケール） ● 空白地帯・競合密集地帯にコメント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31520" y="2926080"/>
            <a:ext cx="7680960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1051560"/>
            <a:ext cx="0" cy="374904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051560"/>
            <a:ext cx="7680960" cy="3749040"/>
          </a:xfrm>
          <a:prstGeom prst="rect">
            <a:avLst/>
          </a:prstGeom>
          <a:ln w="9525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48463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</a:rPr>
              <a:t>受託メイン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0" y="48463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5555"/>
                </a:solidFill>
              </a:rPr>
              <a:t>オリジナルメイン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28600" y="4572439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2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731520" y="4663879"/>
            <a:ext cx="768096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228600" y="4136973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5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731520" y="4228413"/>
            <a:ext cx="768096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228600" y="3807556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10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731520" y="3898996"/>
            <a:ext cx="768096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228600" y="3478139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20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731520" y="3569579"/>
            <a:ext cx="768096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228600" y="3042673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50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731520" y="3134113"/>
            <a:ext cx="768096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228600" y="2713255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100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731520" y="2804695"/>
            <a:ext cx="768096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228600" y="238383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200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731520" y="2475278"/>
            <a:ext cx="768096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228600" y="1948372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500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731520" y="2039812"/>
            <a:ext cx="768096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228600" y="1618955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1K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731520" y="1710395"/>
            <a:ext cx="768096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228600" y="1289537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2K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731520" y="1380977"/>
            <a:ext cx="768096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182880" y="82296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5555"/>
                </a:solidFill>
              </a:rPr>
              <a:t>人数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861699" y="1670359"/>
            <a:ext cx="118872" cy="118872"/>
          </a:xfrm>
          <a:prstGeom prst="oval">
            <a:avLst/>
          </a:prstGeom>
          <a:solidFill>
            <a:srgbClr val="3498DB"/>
          </a:solidFill>
          <a:ln w="6350">
            <a:solidFill>
              <a:srgbClr val="2980B9"/>
            </a:solidFill>
            <a:prstDash val="solid"/>
          </a:ln>
          <a:effectLst>
            <a:outerShdw sx="100000" sy="100000" kx="0" ky="0" algn="bl" rotWithShape="0" blurRad="25400" dist="12700" dir="16200000">
              <a:srgbClr val="000000">
                <a:alpha val="2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068622" y="2212184"/>
            <a:ext cx="118872" cy="118872"/>
          </a:xfrm>
          <a:prstGeom prst="oval">
            <a:avLst/>
          </a:prstGeom>
          <a:solidFill>
            <a:srgbClr val="3498DB"/>
          </a:solidFill>
          <a:ln w="6350">
            <a:solidFill>
              <a:srgbClr val="2980B9"/>
            </a:solidFill>
            <a:prstDash val="solid"/>
          </a:ln>
          <a:effectLst>
            <a:outerShdw sx="100000" sy="100000" kx="0" ky="0" algn="bl" rotWithShape="0" blurRad="25400" dist="12700" dir="16200000">
              <a:srgbClr val="000000">
                <a:alpha val="2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559968" y="1858621"/>
            <a:ext cx="118872" cy="118872"/>
          </a:xfrm>
          <a:prstGeom prst="oval">
            <a:avLst/>
          </a:prstGeom>
          <a:solidFill>
            <a:srgbClr val="3498DB"/>
          </a:solidFill>
          <a:ln w="6350">
            <a:solidFill>
              <a:srgbClr val="2980B9"/>
            </a:solidFill>
            <a:prstDash val="solid"/>
          </a:ln>
          <a:effectLst>
            <a:outerShdw sx="100000" sy="100000" kx="0" ky="0" algn="bl" rotWithShape="0" blurRad="25400" dist="12700" dir="16200000">
              <a:srgbClr val="000000">
                <a:alpha val="2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512564" y="2372711"/>
            <a:ext cx="118872" cy="118872"/>
          </a:xfrm>
          <a:prstGeom prst="oval">
            <a:avLst/>
          </a:prstGeom>
          <a:solidFill>
            <a:srgbClr val="3498DB"/>
          </a:solidFill>
          <a:ln w="6350">
            <a:solidFill>
              <a:srgbClr val="2980B9"/>
            </a:solidFill>
            <a:prstDash val="solid"/>
          </a:ln>
          <a:effectLst>
            <a:outerShdw sx="100000" sy="100000" kx="0" ky="0" algn="bl" rotWithShape="0" blurRad="25400" dist="12700" dir="16200000">
              <a:srgbClr val="000000">
                <a:alpha val="2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068622" y="2298522"/>
            <a:ext cx="118872" cy="118872"/>
          </a:xfrm>
          <a:prstGeom prst="oval">
            <a:avLst/>
          </a:prstGeom>
          <a:solidFill>
            <a:srgbClr val="3498DB"/>
          </a:solidFill>
          <a:ln w="6350">
            <a:solidFill>
              <a:srgbClr val="2980B9"/>
            </a:solidFill>
            <a:prstDash val="solid"/>
          </a:ln>
          <a:effectLst>
            <a:outerShdw sx="100000" sy="100000" kx="0" ky="0" algn="bl" rotWithShape="0" blurRad="25400" dist="12700" dir="16200000">
              <a:srgbClr val="000000">
                <a:alpha val="2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465160" y="2012825"/>
            <a:ext cx="118872" cy="118872"/>
          </a:xfrm>
          <a:prstGeom prst="oval">
            <a:avLst/>
          </a:prstGeom>
          <a:solidFill>
            <a:srgbClr val="3498DB"/>
          </a:solidFill>
          <a:ln w="6350">
            <a:solidFill>
              <a:srgbClr val="2980B9"/>
            </a:solidFill>
            <a:prstDash val="solid"/>
          </a:ln>
          <a:effectLst>
            <a:outerShdw sx="100000" sy="100000" kx="0" ky="0" algn="bl" rotWithShape="0" blurRad="25400" dist="12700" dir="16200000">
              <a:srgbClr val="000000">
                <a:alpha val="2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814295" y="2192473"/>
            <a:ext cx="118872" cy="118872"/>
          </a:xfrm>
          <a:prstGeom prst="oval">
            <a:avLst/>
          </a:prstGeom>
          <a:solidFill>
            <a:srgbClr val="3498DB"/>
          </a:solidFill>
          <a:ln w="6350">
            <a:solidFill>
              <a:srgbClr val="2980B9"/>
            </a:solidFill>
            <a:prstDash val="solid"/>
          </a:ln>
          <a:effectLst>
            <a:outerShdw sx="100000" sy="100000" kx="0" ky="0" algn="bl" rotWithShape="0" blurRad="25400" dist="12700" dir="16200000">
              <a:srgbClr val="000000">
                <a:alpha val="2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068622" y="2329194"/>
            <a:ext cx="118872" cy="118872"/>
          </a:xfrm>
          <a:prstGeom prst="oval">
            <a:avLst/>
          </a:prstGeom>
          <a:solidFill>
            <a:srgbClr val="3498DB"/>
          </a:solidFill>
          <a:ln w="6350">
            <a:solidFill>
              <a:srgbClr val="2980B9"/>
            </a:solidFill>
            <a:prstDash val="solid"/>
          </a:ln>
          <a:effectLst>
            <a:outerShdw sx="100000" sy="100000" kx="0" ky="0" algn="bl" rotWithShape="0" blurRad="25400" dist="12700" dir="16200000">
              <a:srgbClr val="000000">
                <a:alpha val="2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2068622" y="2309793"/>
            <a:ext cx="118872" cy="118872"/>
          </a:xfrm>
          <a:prstGeom prst="oval">
            <a:avLst/>
          </a:prstGeom>
          <a:solidFill>
            <a:srgbClr val="3498DB"/>
          </a:solidFill>
          <a:ln w="6350">
            <a:solidFill>
              <a:srgbClr val="2980B9"/>
            </a:solidFill>
            <a:prstDash val="solid"/>
          </a:ln>
          <a:effectLst>
            <a:outerShdw sx="100000" sy="100000" kx="0" ky="0" algn="bl" rotWithShape="0" blurRad="25400" dist="12700" dir="16200000">
              <a:srgbClr val="000000">
                <a:alpha val="2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607371" y="2445248"/>
            <a:ext cx="118872" cy="118872"/>
          </a:xfrm>
          <a:prstGeom prst="oval">
            <a:avLst/>
          </a:prstGeom>
          <a:solidFill>
            <a:srgbClr val="3498DB"/>
          </a:solidFill>
          <a:ln w="6350">
            <a:solidFill>
              <a:srgbClr val="2980B9"/>
            </a:solidFill>
            <a:prstDash val="solid"/>
          </a:ln>
          <a:effectLst>
            <a:outerShdw sx="100000" sy="100000" kx="0" ky="0" algn="bl" rotWithShape="0" blurRad="25400" dist="12700" dir="16200000">
              <a:srgbClr val="000000">
                <a:alpha val="2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2417757" y="2745259"/>
            <a:ext cx="118872" cy="118872"/>
          </a:xfrm>
          <a:prstGeom prst="oval">
            <a:avLst/>
          </a:prstGeom>
          <a:solidFill>
            <a:srgbClr val="3498DB"/>
          </a:solidFill>
          <a:ln w="6350">
            <a:solidFill>
              <a:srgbClr val="2980B9"/>
            </a:solidFill>
            <a:prstDash val="solid"/>
          </a:ln>
          <a:effectLst>
            <a:outerShdw sx="100000" sy="100000" kx="0" ky="0" algn="bl" rotWithShape="0" blurRad="25400" dist="12700" dir="16200000">
              <a:srgbClr val="000000">
                <a:alpha val="2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512564" y="2662588"/>
            <a:ext cx="118872" cy="118872"/>
          </a:xfrm>
          <a:prstGeom prst="oval">
            <a:avLst/>
          </a:prstGeom>
          <a:solidFill>
            <a:srgbClr val="3498DB"/>
          </a:solidFill>
          <a:ln w="6350">
            <a:solidFill>
              <a:srgbClr val="2980B9"/>
            </a:solidFill>
            <a:prstDash val="solid"/>
          </a:ln>
          <a:effectLst>
            <a:outerShdw sx="100000" sy="100000" kx="0" ky="0" algn="bl" rotWithShape="0" blurRad="25400" dist="12700" dir="16200000">
              <a:srgbClr val="000000">
                <a:alpha val="2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2417757" y="2914769"/>
            <a:ext cx="118872" cy="118872"/>
          </a:xfrm>
          <a:prstGeom prst="oval">
            <a:avLst/>
          </a:prstGeom>
          <a:solidFill>
            <a:srgbClr val="3498DB"/>
          </a:solidFill>
          <a:ln w="6350">
            <a:solidFill>
              <a:srgbClr val="2980B9"/>
            </a:solidFill>
            <a:prstDash val="solid"/>
          </a:ln>
          <a:effectLst>
            <a:outerShdw sx="100000" sy="100000" kx="0" ky="0" algn="bl" rotWithShape="0" blurRad="25400" dist="12700" dir="16200000">
              <a:srgbClr val="000000">
                <a:alpha val="2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2068622" y="2223145"/>
            <a:ext cx="118872" cy="118872"/>
          </a:xfrm>
          <a:prstGeom prst="oval">
            <a:avLst/>
          </a:prstGeom>
          <a:solidFill>
            <a:srgbClr val="3498DB"/>
          </a:solidFill>
          <a:ln w="6350">
            <a:solidFill>
              <a:srgbClr val="2980B9"/>
            </a:solidFill>
            <a:prstDash val="solid"/>
          </a:ln>
          <a:effectLst>
            <a:outerShdw sx="100000" sy="100000" kx="0" ky="0" algn="bl" rotWithShape="0" blurRad="25400" dist="12700" dir="16200000">
              <a:srgbClr val="000000">
                <a:alpha val="2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2417757" y="2493079"/>
            <a:ext cx="118872" cy="118872"/>
          </a:xfrm>
          <a:prstGeom prst="oval">
            <a:avLst/>
          </a:prstGeom>
          <a:solidFill>
            <a:srgbClr val="3498DB"/>
          </a:solidFill>
          <a:ln w="6350">
            <a:solidFill>
              <a:srgbClr val="2980B9"/>
            </a:solidFill>
            <a:prstDash val="solid"/>
          </a:ln>
          <a:effectLst>
            <a:outerShdw sx="100000" sy="100000" kx="0" ky="0" algn="bl" rotWithShape="0" blurRad="25400" dist="12700" dir="16200000">
              <a:srgbClr val="000000">
                <a:alpha val="2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861699" y="3065266"/>
            <a:ext cx="118872" cy="118872"/>
          </a:xfrm>
          <a:prstGeom prst="oval">
            <a:avLst/>
          </a:prstGeom>
          <a:solidFill>
            <a:srgbClr val="3498DB"/>
          </a:solidFill>
          <a:ln w="6350">
            <a:solidFill>
              <a:srgbClr val="2980B9"/>
            </a:solidFill>
            <a:prstDash val="solid"/>
          </a:ln>
          <a:effectLst>
            <a:outerShdw sx="100000" sy="100000" kx="0" ky="0" algn="bl" rotWithShape="0" blurRad="25400" dist="12700" dir="16200000">
              <a:srgbClr val="000000">
                <a:alpha val="2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258237" y="3180725"/>
            <a:ext cx="118872" cy="118872"/>
          </a:xfrm>
          <a:prstGeom prst="oval">
            <a:avLst/>
          </a:prstGeom>
          <a:solidFill>
            <a:srgbClr val="3498DB"/>
          </a:solidFill>
          <a:ln w="6350">
            <a:solidFill>
              <a:srgbClr val="2980B9"/>
            </a:solidFill>
            <a:prstDash val="solid"/>
          </a:ln>
          <a:effectLst>
            <a:outerShdw sx="100000" sy="100000" kx="0" ky="0" algn="bl" rotWithShape="0" blurRad="25400" dist="12700" dir="16200000">
              <a:srgbClr val="000000">
                <a:alpha val="2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607371" y="2713105"/>
            <a:ext cx="118872" cy="118872"/>
          </a:xfrm>
          <a:prstGeom prst="oval">
            <a:avLst/>
          </a:prstGeom>
          <a:solidFill>
            <a:srgbClr val="3498DB"/>
          </a:solidFill>
          <a:ln w="6350">
            <a:solidFill>
              <a:srgbClr val="2980B9"/>
            </a:solidFill>
            <a:prstDash val="solid"/>
          </a:ln>
          <a:effectLst>
            <a:outerShdw sx="100000" sy="100000" kx="0" ky="0" algn="bl" rotWithShape="0" blurRad="25400" dist="12700" dir="16200000">
              <a:srgbClr val="000000">
                <a:alpha val="2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7654775" y="1605663"/>
            <a:ext cx="118872" cy="118872"/>
          </a:xfrm>
          <a:prstGeom prst="oval">
            <a:avLst/>
          </a:prstGeom>
          <a:solidFill>
            <a:srgbClr val="E74C3C"/>
          </a:solidFill>
          <a:ln w="6350">
            <a:solidFill>
              <a:srgbClr val="C0392B"/>
            </a:solidFill>
            <a:prstDash val="solid"/>
          </a:ln>
          <a:effectLst>
            <a:outerShdw sx="100000" sy="100000" kx="0" ky="0" algn="bl" rotWithShape="0" blurRad="25400" dist="12700" dir="16200000">
              <a:srgbClr val="000000">
                <a:alpha val="2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7305640" y="1178917"/>
            <a:ext cx="118872" cy="118872"/>
          </a:xfrm>
          <a:prstGeom prst="oval">
            <a:avLst/>
          </a:prstGeom>
          <a:solidFill>
            <a:srgbClr val="E74C3C"/>
          </a:solidFill>
          <a:ln w="6350">
            <a:solidFill>
              <a:srgbClr val="C0392B"/>
            </a:solidFill>
            <a:prstDash val="solid"/>
          </a:ln>
          <a:effectLst>
            <a:outerShdw sx="100000" sy="100000" kx="0" ky="0" algn="bl" rotWithShape="0" blurRad="25400" dist="12700" dir="16200000">
              <a:srgbClr val="000000">
                <a:alpha val="2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7305640" y="1757007"/>
            <a:ext cx="118872" cy="118872"/>
          </a:xfrm>
          <a:prstGeom prst="oval">
            <a:avLst/>
          </a:prstGeom>
          <a:solidFill>
            <a:srgbClr val="E74C3C"/>
          </a:solidFill>
          <a:ln w="6350">
            <a:solidFill>
              <a:srgbClr val="C0392B"/>
            </a:solidFill>
            <a:prstDash val="solid"/>
          </a:ln>
          <a:effectLst>
            <a:outerShdw sx="100000" sy="100000" kx="0" ky="0" algn="bl" rotWithShape="0" blurRad="25400" dist="12700" dir="16200000">
              <a:srgbClr val="000000">
                <a:alpha val="2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3814295" y="2620571"/>
            <a:ext cx="118872" cy="118872"/>
          </a:xfrm>
          <a:prstGeom prst="oval">
            <a:avLst/>
          </a:prstGeom>
          <a:solidFill>
            <a:srgbClr val="E74C3C"/>
          </a:solidFill>
          <a:ln w="6350">
            <a:solidFill>
              <a:srgbClr val="C0392B"/>
            </a:solidFill>
            <a:prstDash val="solid"/>
          </a:ln>
          <a:effectLst>
            <a:outerShdw sx="100000" sy="100000" kx="0" ky="0" algn="bl" rotWithShape="0" blurRad="25400" dist="12700" dir="16200000">
              <a:srgbClr val="000000">
                <a:alpha val="2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2068622" y="1564311"/>
            <a:ext cx="118872" cy="118872"/>
          </a:xfrm>
          <a:prstGeom prst="oval">
            <a:avLst/>
          </a:prstGeom>
          <a:solidFill>
            <a:srgbClr val="E74C3C"/>
          </a:solidFill>
          <a:ln w="6350">
            <a:solidFill>
              <a:srgbClr val="C0392B"/>
            </a:solidFill>
            <a:prstDash val="solid"/>
          </a:ln>
          <a:effectLst>
            <a:outerShdw sx="100000" sy="100000" kx="0" ky="0" algn="bl" rotWithShape="0" blurRad="25400" dist="12700" dir="16200000">
              <a:srgbClr val="000000">
                <a:alpha val="2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6956506" y="2223145"/>
            <a:ext cx="118872" cy="118872"/>
          </a:xfrm>
          <a:prstGeom prst="oval">
            <a:avLst/>
          </a:prstGeom>
          <a:solidFill>
            <a:srgbClr val="E74C3C"/>
          </a:solidFill>
          <a:ln w="6350">
            <a:solidFill>
              <a:srgbClr val="C0392B"/>
            </a:solidFill>
            <a:prstDash val="solid"/>
          </a:ln>
          <a:effectLst>
            <a:outerShdw sx="100000" sy="100000" kx="0" ky="0" algn="bl" rotWithShape="0" blurRad="25400" dist="12700" dir="16200000">
              <a:srgbClr val="000000">
                <a:alpha val="20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4163429" y="2329194"/>
            <a:ext cx="118872" cy="118872"/>
          </a:xfrm>
          <a:prstGeom prst="oval">
            <a:avLst/>
          </a:prstGeom>
          <a:solidFill>
            <a:srgbClr val="E74C3C"/>
          </a:solidFill>
          <a:ln w="6350">
            <a:solidFill>
              <a:srgbClr val="C0392B"/>
            </a:solidFill>
            <a:prstDash val="solid"/>
          </a:ln>
          <a:effectLst>
            <a:outerShdw sx="100000" sy="100000" kx="0" ky="0" algn="bl" rotWithShape="0" blurRad="25400" dist="12700" dir="16200000">
              <a:srgbClr val="000000">
                <a:alpha val="20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1370353" y="2086425"/>
            <a:ext cx="118872" cy="118872"/>
          </a:xfrm>
          <a:prstGeom prst="oval">
            <a:avLst/>
          </a:prstGeom>
          <a:solidFill>
            <a:srgbClr val="E74C3C"/>
          </a:solidFill>
          <a:ln w="6350">
            <a:solidFill>
              <a:srgbClr val="C0392B"/>
            </a:solidFill>
            <a:prstDash val="solid"/>
          </a:ln>
          <a:effectLst>
            <a:outerShdw sx="100000" sy="100000" kx="0" ky="0" algn="bl" rotWithShape="0" blurRad="25400" dist="12700" dir="16200000">
              <a:srgbClr val="000000">
                <a:alpha val="20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2068622" y="2658611"/>
            <a:ext cx="118872" cy="118872"/>
          </a:xfrm>
          <a:prstGeom prst="oval">
            <a:avLst/>
          </a:prstGeom>
          <a:solidFill>
            <a:srgbClr val="E74C3C"/>
          </a:solidFill>
          <a:ln w="6350">
            <a:solidFill>
              <a:srgbClr val="C0392B"/>
            </a:solidFill>
            <a:prstDash val="solid"/>
          </a:ln>
          <a:effectLst>
            <a:outerShdw sx="100000" sy="100000" kx="0" ky="0" algn="bl" rotWithShape="0" blurRad="25400" dist="12700" dir="16200000">
              <a:srgbClr val="000000">
                <a:alpha val="20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3814295" y="2415842"/>
            <a:ext cx="118872" cy="118872"/>
          </a:xfrm>
          <a:prstGeom prst="oval">
            <a:avLst/>
          </a:prstGeom>
          <a:solidFill>
            <a:srgbClr val="E74C3C"/>
          </a:solidFill>
          <a:ln w="6350">
            <a:solidFill>
              <a:srgbClr val="C0392B"/>
            </a:solidFill>
            <a:prstDash val="solid"/>
          </a:ln>
          <a:effectLst>
            <a:outerShdw sx="100000" sy="100000" kx="0" ky="0" algn="bl" rotWithShape="0" blurRad="25400" dist="12700" dir="16200000">
              <a:srgbClr val="000000">
                <a:alpha val="20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7305640" y="3510143"/>
            <a:ext cx="118872" cy="118872"/>
          </a:xfrm>
          <a:prstGeom prst="oval">
            <a:avLst/>
          </a:prstGeom>
          <a:solidFill>
            <a:srgbClr val="E74C3C"/>
          </a:solidFill>
          <a:ln w="6350">
            <a:solidFill>
              <a:srgbClr val="C0392B"/>
            </a:solidFill>
            <a:prstDash val="solid"/>
          </a:ln>
          <a:effectLst>
            <a:outerShdw sx="100000" sy="100000" kx="0" ky="0" algn="bl" rotWithShape="0" blurRad="25400" dist="12700" dir="16200000">
              <a:srgbClr val="000000">
                <a:alpha val="20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4994287" y="1620067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東映アニメ</a:t>
            </a:r>
            <a:endParaRPr lang="en-US" sz="550" dirty="0"/>
          </a:p>
        </p:txBody>
      </p:sp>
      <p:sp>
        <p:nvSpPr>
          <p:cNvPr id="61" name="Text 59"/>
          <p:cNvSpPr/>
          <p:nvPr/>
        </p:nvSpPr>
        <p:spPr>
          <a:xfrm>
            <a:off x="2201210" y="2161892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トムス</a:t>
            </a:r>
            <a:endParaRPr lang="en-US" sz="550" dirty="0"/>
          </a:p>
        </p:txBody>
      </p:sp>
      <p:sp>
        <p:nvSpPr>
          <p:cNvPr id="62" name="Text 60"/>
          <p:cNvSpPr/>
          <p:nvPr/>
        </p:nvSpPr>
        <p:spPr>
          <a:xfrm>
            <a:off x="5692556" y="1808329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BNフィルムワークス</a:t>
            </a:r>
            <a:endParaRPr lang="en-US" sz="550" dirty="0"/>
          </a:p>
        </p:txBody>
      </p:sp>
      <p:sp>
        <p:nvSpPr>
          <p:cNvPr id="63" name="Text 61"/>
          <p:cNvSpPr/>
          <p:nvPr/>
        </p:nvSpPr>
        <p:spPr>
          <a:xfrm>
            <a:off x="4645152" y="2322419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I.G</a:t>
            </a:r>
            <a:endParaRPr lang="en-US" sz="550" dirty="0"/>
          </a:p>
        </p:txBody>
      </p:sp>
      <p:sp>
        <p:nvSpPr>
          <p:cNvPr id="64" name="Text 62"/>
          <p:cNvSpPr/>
          <p:nvPr/>
        </p:nvSpPr>
        <p:spPr>
          <a:xfrm>
            <a:off x="2201210" y="2248230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ufotable</a:t>
            </a:r>
            <a:endParaRPr lang="en-US" sz="550" dirty="0"/>
          </a:p>
        </p:txBody>
      </p:sp>
      <p:sp>
        <p:nvSpPr>
          <p:cNvPr id="65" name="Text 63"/>
          <p:cNvSpPr/>
          <p:nvPr/>
        </p:nvSpPr>
        <p:spPr>
          <a:xfrm>
            <a:off x="3597748" y="1962533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MAPPA</a:t>
            </a:r>
            <a:endParaRPr lang="en-US" sz="550" dirty="0"/>
          </a:p>
        </p:txBody>
      </p:sp>
      <p:sp>
        <p:nvSpPr>
          <p:cNvPr id="66" name="Text 64"/>
          <p:cNvSpPr/>
          <p:nvPr/>
        </p:nvSpPr>
        <p:spPr>
          <a:xfrm>
            <a:off x="3946883" y="2142181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 STUDIO</a:t>
            </a:r>
            <a:endParaRPr lang="en-US" sz="550" dirty="0"/>
          </a:p>
        </p:txBody>
      </p:sp>
      <p:sp>
        <p:nvSpPr>
          <p:cNvPr id="67" name="Text 65"/>
          <p:cNvSpPr/>
          <p:nvPr/>
        </p:nvSpPr>
        <p:spPr>
          <a:xfrm>
            <a:off x="2201210" y="2278902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CloverWorks</a:t>
            </a:r>
            <a:endParaRPr lang="en-US" sz="550" dirty="0"/>
          </a:p>
        </p:txBody>
      </p:sp>
      <p:sp>
        <p:nvSpPr>
          <p:cNvPr id="68" name="Text 66"/>
          <p:cNvSpPr/>
          <p:nvPr/>
        </p:nvSpPr>
        <p:spPr>
          <a:xfrm>
            <a:off x="2201210" y="2259501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A-1 Pictures</a:t>
            </a:r>
            <a:endParaRPr lang="en-US" sz="550" dirty="0"/>
          </a:p>
        </p:txBody>
      </p:sp>
      <p:sp>
        <p:nvSpPr>
          <p:cNvPr id="69" name="Text 67"/>
          <p:cNvSpPr/>
          <p:nvPr/>
        </p:nvSpPr>
        <p:spPr>
          <a:xfrm>
            <a:off x="6739959" y="2394956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京都アニメ</a:t>
            </a:r>
            <a:endParaRPr lang="en-US" sz="550" dirty="0"/>
          </a:p>
        </p:txBody>
      </p:sp>
      <p:sp>
        <p:nvSpPr>
          <p:cNvPr id="70" name="Text 68"/>
          <p:cNvSpPr/>
          <p:nvPr/>
        </p:nvSpPr>
        <p:spPr>
          <a:xfrm>
            <a:off x="2550345" y="2694967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シャフト</a:t>
            </a:r>
            <a:endParaRPr lang="en-US" sz="550" dirty="0"/>
          </a:p>
        </p:txBody>
      </p:sp>
      <p:sp>
        <p:nvSpPr>
          <p:cNvPr id="71" name="Text 69"/>
          <p:cNvSpPr/>
          <p:nvPr/>
        </p:nvSpPr>
        <p:spPr>
          <a:xfrm>
            <a:off x="4645152" y="2612296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ボンズ</a:t>
            </a:r>
            <a:endParaRPr lang="en-US" sz="550" dirty="0"/>
          </a:p>
        </p:txBody>
      </p:sp>
      <p:sp>
        <p:nvSpPr>
          <p:cNvPr id="72" name="Text 70"/>
          <p:cNvSpPr/>
          <p:nvPr/>
        </p:nvSpPr>
        <p:spPr>
          <a:xfrm>
            <a:off x="2550345" y="2864477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マッドハウス</a:t>
            </a:r>
            <a:endParaRPr lang="en-US" sz="550" dirty="0"/>
          </a:p>
        </p:txBody>
      </p:sp>
      <p:sp>
        <p:nvSpPr>
          <p:cNvPr id="73" name="Text 71"/>
          <p:cNvSpPr/>
          <p:nvPr/>
        </p:nvSpPr>
        <p:spPr>
          <a:xfrm>
            <a:off x="2201210" y="2172853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ポリゴンP</a:t>
            </a:r>
            <a:endParaRPr lang="en-US" sz="550" dirty="0"/>
          </a:p>
        </p:txBody>
      </p:sp>
      <p:sp>
        <p:nvSpPr>
          <p:cNvPr id="74" name="Text 72"/>
          <p:cNvSpPr/>
          <p:nvPr/>
        </p:nvSpPr>
        <p:spPr>
          <a:xfrm>
            <a:off x="2550345" y="2442787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オレンジ</a:t>
            </a:r>
            <a:endParaRPr lang="en-US" sz="550" dirty="0"/>
          </a:p>
        </p:txBody>
      </p:sp>
      <p:sp>
        <p:nvSpPr>
          <p:cNvPr id="75" name="Text 73"/>
          <p:cNvSpPr/>
          <p:nvPr/>
        </p:nvSpPr>
        <p:spPr>
          <a:xfrm>
            <a:off x="4994287" y="3014974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Science SARU</a:t>
            </a:r>
            <a:endParaRPr lang="en-US" sz="550" dirty="0"/>
          </a:p>
        </p:txBody>
      </p:sp>
      <p:sp>
        <p:nvSpPr>
          <p:cNvPr id="76" name="Text 74"/>
          <p:cNvSpPr/>
          <p:nvPr/>
        </p:nvSpPr>
        <p:spPr>
          <a:xfrm>
            <a:off x="6390825" y="3130433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Colorido</a:t>
            </a:r>
            <a:endParaRPr lang="en-US" sz="550" dirty="0"/>
          </a:p>
        </p:txBody>
      </p:sp>
      <p:sp>
        <p:nvSpPr>
          <p:cNvPr id="77" name="Text 75"/>
          <p:cNvSpPr/>
          <p:nvPr/>
        </p:nvSpPr>
        <p:spPr>
          <a:xfrm>
            <a:off x="6739959" y="2662813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ツインエンジン</a:t>
            </a:r>
            <a:endParaRPr lang="en-US" sz="550" dirty="0"/>
          </a:p>
        </p:txBody>
      </p:sp>
      <p:sp>
        <p:nvSpPr>
          <p:cNvPr id="78" name="Text 76"/>
          <p:cNvSpPr/>
          <p:nvPr/>
        </p:nvSpPr>
        <p:spPr>
          <a:xfrm>
            <a:off x="7787363" y="1555371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922B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Pixar</a:t>
            </a:r>
            <a:endParaRPr lang="en-US" sz="550" dirty="0"/>
          </a:p>
        </p:txBody>
      </p:sp>
      <p:sp>
        <p:nvSpPr>
          <p:cNvPr id="79" name="Text 77"/>
          <p:cNvSpPr/>
          <p:nvPr/>
        </p:nvSpPr>
        <p:spPr>
          <a:xfrm>
            <a:off x="7438228" y="1128625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922B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DreamWorks</a:t>
            </a:r>
            <a:endParaRPr lang="en-US" sz="550" dirty="0"/>
          </a:p>
        </p:txBody>
      </p:sp>
      <p:sp>
        <p:nvSpPr>
          <p:cNvPr id="80" name="Text 78"/>
          <p:cNvSpPr/>
          <p:nvPr/>
        </p:nvSpPr>
        <p:spPr>
          <a:xfrm>
            <a:off x="7438228" y="1706715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922B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Illumination</a:t>
            </a:r>
            <a:endParaRPr lang="en-US" sz="550" dirty="0"/>
          </a:p>
        </p:txBody>
      </p:sp>
      <p:sp>
        <p:nvSpPr>
          <p:cNvPr id="81" name="Text 79"/>
          <p:cNvSpPr/>
          <p:nvPr/>
        </p:nvSpPr>
        <p:spPr>
          <a:xfrm>
            <a:off x="3946883" y="2570279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922B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Powerhouse</a:t>
            </a:r>
            <a:endParaRPr lang="en-US" sz="550" dirty="0"/>
          </a:p>
        </p:txBody>
      </p:sp>
      <p:sp>
        <p:nvSpPr>
          <p:cNvPr id="82" name="Text 80"/>
          <p:cNvSpPr/>
          <p:nvPr/>
        </p:nvSpPr>
        <p:spPr>
          <a:xfrm>
            <a:off x="2201210" y="1514019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922B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Titmouse</a:t>
            </a:r>
            <a:endParaRPr lang="en-US" sz="550" dirty="0"/>
          </a:p>
        </p:txBody>
      </p:sp>
      <p:sp>
        <p:nvSpPr>
          <p:cNvPr id="83" name="Text 81"/>
          <p:cNvSpPr/>
          <p:nvPr/>
        </p:nvSpPr>
        <p:spPr>
          <a:xfrm>
            <a:off x="7089094" y="2172853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922B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Cartoon Saloon</a:t>
            </a:r>
            <a:endParaRPr lang="en-US" sz="550" dirty="0"/>
          </a:p>
        </p:txBody>
      </p:sp>
      <p:sp>
        <p:nvSpPr>
          <p:cNvPr id="84" name="Text 82"/>
          <p:cNvSpPr/>
          <p:nvPr/>
        </p:nvSpPr>
        <p:spPr>
          <a:xfrm>
            <a:off x="4296017" y="2278902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922B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Fortiche</a:t>
            </a:r>
            <a:endParaRPr lang="en-US" sz="550" dirty="0"/>
          </a:p>
        </p:txBody>
      </p:sp>
      <p:sp>
        <p:nvSpPr>
          <p:cNvPr id="85" name="Text 83"/>
          <p:cNvSpPr/>
          <p:nvPr/>
        </p:nvSpPr>
        <p:spPr>
          <a:xfrm>
            <a:off x="1502941" y="2036133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922B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 Movie</a:t>
            </a:r>
            <a:endParaRPr lang="en-US" sz="550" dirty="0"/>
          </a:p>
        </p:txBody>
      </p:sp>
      <p:sp>
        <p:nvSpPr>
          <p:cNvPr id="86" name="Text 84"/>
          <p:cNvSpPr/>
          <p:nvPr/>
        </p:nvSpPr>
        <p:spPr>
          <a:xfrm>
            <a:off x="2201210" y="2608319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922B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 Mir</a:t>
            </a:r>
            <a:endParaRPr lang="en-US" sz="550" dirty="0"/>
          </a:p>
        </p:txBody>
      </p:sp>
      <p:sp>
        <p:nvSpPr>
          <p:cNvPr id="87" name="Text 85"/>
          <p:cNvSpPr/>
          <p:nvPr/>
        </p:nvSpPr>
        <p:spPr>
          <a:xfrm>
            <a:off x="3946883" y="2365550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922B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Haoliners</a:t>
            </a:r>
            <a:endParaRPr lang="en-US" sz="550" dirty="0"/>
          </a:p>
        </p:txBody>
      </p:sp>
      <p:sp>
        <p:nvSpPr>
          <p:cNvPr id="88" name="Text 86"/>
          <p:cNvSpPr/>
          <p:nvPr/>
        </p:nvSpPr>
        <p:spPr>
          <a:xfrm>
            <a:off x="7438228" y="3459851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922B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Tonko House</a:t>
            </a:r>
            <a:endParaRPr lang="en-US" sz="550" dirty="0"/>
          </a:p>
        </p:txBody>
      </p:sp>
      <p:sp>
        <p:nvSpPr>
          <p:cNvPr id="89" name="Shape 87"/>
          <p:cNvSpPr/>
          <p:nvPr/>
        </p:nvSpPr>
        <p:spPr>
          <a:xfrm>
            <a:off x="6400800" y="1143000"/>
            <a:ext cx="1920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sx="100000" sy="100000" kx="0" ky="0" algn="bl" rotWithShape="0" blurRad="25400" dist="12700" dir="16200000">
              <a:srgbClr val="000000">
                <a:alpha val="10000"/>
              </a:srgbClr>
            </a:outerShdw>
          </a:effectLst>
        </p:spPr>
      </p:sp>
      <p:sp>
        <p:nvSpPr>
          <p:cNvPr id="90" name="Shape 88"/>
          <p:cNvSpPr/>
          <p:nvPr/>
        </p:nvSpPr>
        <p:spPr>
          <a:xfrm>
            <a:off x="6492240" y="1216152"/>
            <a:ext cx="91440" cy="91440"/>
          </a:xfrm>
          <a:prstGeom prst="oval">
            <a:avLst/>
          </a:prstGeom>
          <a:solidFill>
            <a:srgbClr val="3498DB"/>
          </a:solidFill>
          <a:ln/>
        </p:spPr>
      </p:sp>
      <p:sp>
        <p:nvSpPr>
          <p:cNvPr id="91" name="Text 89"/>
          <p:cNvSpPr/>
          <p:nvPr/>
        </p:nvSpPr>
        <p:spPr>
          <a:xfrm>
            <a:off x="6629400" y="117043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</a:rPr>
              <a:t>国内スタジオ</a:t>
            </a:r>
            <a:endParaRPr lang="en-US" sz="700" dirty="0"/>
          </a:p>
        </p:txBody>
      </p:sp>
      <p:sp>
        <p:nvSpPr>
          <p:cNvPr id="92" name="Shape 90"/>
          <p:cNvSpPr/>
          <p:nvPr/>
        </p:nvSpPr>
        <p:spPr>
          <a:xfrm>
            <a:off x="7406640" y="1216152"/>
            <a:ext cx="91440" cy="91440"/>
          </a:xfrm>
          <a:prstGeom prst="oval">
            <a:avLst/>
          </a:prstGeom>
          <a:solidFill>
            <a:srgbClr val="E74C3C"/>
          </a:solidFill>
          <a:ln/>
        </p:spPr>
      </p:sp>
      <p:sp>
        <p:nvSpPr>
          <p:cNvPr id="93" name="Text 91"/>
          <p:cNvSpPr/>
          <p:nvPr/>
        </p:nvSpPr>
        <p:spPr>
          <a:xfrm>
            <a:off x="7543800" y="117043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</a:rPr>
              <a:t>海外スタジオ</a:t>
            </a:r>
            <a:endParaRPr lang="en-US" sz="700" dirty="0"/>
          </a:p>
        </p:txBody>
      </p:sp>
      <p:sp>
        <p:nvSpPr>
          <p:cNvPr id="94" name="Shape 92"/>
          <p:cNvSpPr/>
          <p:nvPr/>
        </p:nvSpPr>
        <p:spPr>
          <a:xfrm>
            <a:off x="6492240" y="1399032"/>
            <a:ext cx="91440" cy="91440"/>
          </a:xfrm>
          <a:prstGeom prst="oval">
            <a:avLst/>
          </a:prstGeom>
          <a:solidFill>
            <a:srgbClr val="F1C40F"/>
          </a:solidFill>
          <a:ln/>
        </p:spPr>
      </p:sp>
      <p:sp>
        <p:nvSpPr>
          <p:cNvPr id="95" name="Text 93"/>
          <p:cNvSpPr/>
          <p:nvPr/>
        </p:nvSpPr>
        <p:spPr>
          <a:xfrm>
            <a:off x="6629400" y="135331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</a:rPr>
              <a:t>当社（提案）</a:t>
            </a:r>
            <a:endParaRPr lang="en-US" sz="700" dirty="0"/>
          </a:p>
        </p:txBody>
      </p:sp>
      <p:sp>
        <p:nvSpPr>
          <p:cNvPr id="96" name="Shape 94"/>
          <p:cNvSpPr/>
          <p:nvPr/>
        </p:nvSpPr>
        <p:spPr>
          <a:xfrm>
            <a:off x="1504604" y="2072161"/>
            <a:ext cx="1463040" cy="274320"/>
          </a:xfrm>
          <a:prstGeom prst="rect">
            <a:avLst>
              <a:gd name="adj" fmla="val 16667"/>
            </a:avLst>
          </a:prstGeom>
          <a:solidFill>
            <a:srgbClr val="FFF9C4"/>
          </a:solidFill>
          <a:ln w="9525">
            <a:solidFill>
              <a:srgbClr val="F9A825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1504604" y="2072161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95548"/>
                </a:solidFill>
              </a:rPr>
              <a:t>受託ゾーン: 競合密集</a:t>
            </a:r>
            <a:endParaRPr lang="en-US" sz="700" dirty="0"/>
          </a:p>
        </p:txBody>
      </p:sp>
      <p:sp>
        <p:nvSpPr>
          <p:cNvPr id="98" name="Shape 96"/>
          <p:cNvSpPr/>
          <p:nvPr/>
        </p:nvSpPr>
        <p:spPr>
          <a:xfrm>
            <a:off x="6924502" y="2773584"/>
            <a:ext cx="1463040" cy="274320"/>
          </a:xfrm>
          <a:prstGeom prst="rect">
            <a:avLst>
              <a:gd name="adj" fmla="val 16667"/>
            </a:avLst>
          </a:prstGeom>
          <a:solidFill>
            <a:srgbClr val="E8F5E9"/>
          </a:solidFill>
          <a:ln w="9525">
            <a:solidFill>
              <a:srgbClr val="4CAF5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924502" y="277358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E7D32"/>
                </a:solidFill>
              </a:rPr>
              <a:t>空白地帯: AI活用の機会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9900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" y="152400"/>
            <a:ext cx="8705088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成長軌跡マップ（設立時 → 現在）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04800" y="536525"/>
            <a:ext cx="870508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859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矢印で各スタジオの成長方向と規模変化を表示 / 主要スタジオのみ抽出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31520" y="2926080"/>
            <a:ext cx="7680960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1051560"/>
            <a:ext cx="0" cy="374904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051560"/>
            <a:ext cx="7680960" cy="3749040"/>
          </a:xfrm>
          <a:prstGeom prst="rect">
            <a:avLst/>
          </a:prstGeom>
          <a:ln w="9525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48463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</a:rPr>
              <a:t>受託メイン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0" y="48463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5555"/>
                </a:solidFill>
              </a:rPr>
              <a:t>オリジナルメイン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28600" y="4572439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2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731520" y="4663879"/>
            <a:ext cx="768096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228600" y="4136973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5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731520" y="4228413"/>
            <a:ext cx="768096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228600" y="3807556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10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731520" y="3898996"/>
            <a:ext cx="768096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228600" y="3478139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20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731520" y="3569579"/>
            <a:ext cx="768096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228600" y="3042673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50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731520" y="3134113"/>
            <a:ext cx="768096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228600" y="2713255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100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731520" y="2804695"/>
            <a:ext cx="768096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228600" y="238383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200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731520" y="2475278"/>
            <a:ext cx="768096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228600" y="1948372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500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731520" y="2039812"/>
            <a:ext cx="768096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228600" y="1618955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1K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731520" y="1710395"/>
            <a:ext cx="768096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228600" y="1289537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2K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731520" y="1380977"/>
            <a:ext cx="768096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182880" y="82296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5555"/>
                </a:solidFill>
              </a:rPr>
              <a:t>人数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884559" y="3267046"/>
            <a:ext cx="73152" cy="73152"/>
          </a:xfrm>
          <a:prstGeom prst="oval">
            <a:avLst/>
          </a:prstGeom>
          <a:solidFill>
            <a:srgbClr val="3498DB"/>
          </a:solidFill>
          <a:ln/>
        </p:spPr>
      </p:sp>
      <p:sp>
        <p:nvSpPr>
          <p:cNvPr id="32" name="Shape 30"/>
          <p:cNvSpPr/>
          <p:nvPr/>
        </p:nvSpPr>
        <p:spPr>
          <a:xfrm>
            <a:off x="4861699" y="1670359"/>
            <a:ext cx="118872" cy="118872"/>
          </a:xfrm>
          <a:prstGeom prst="oval">
            <a:avLst/>
          </a:prstGeom>
          <a:solidFill>
            <a:srgbClr val="3498DB"/>
          </a:solidFill>
          <a:ln w="6350">
            <a:solidFill>
              <a:srgbClr val="2980B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921135" y="3303622"/>
            <a:ext cx="0" cy="-1573827"/>
          </a:xfrm>
          <a:prstGeom prst="line">
            <a:avLst/>
          </a:prstGeom>
          <a:noFill/>
          <a:ln w="12700">
            <a:solidFill>
              <a:srgbClr val="3498DB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4994287" y="1656643"/>
            <a:ext cx="1005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2C3E50"/>
                </a:solidFill>
              </a:rPr>
              <a:t>東映アニメ</a:t>
            </a:r>
            <a:endParaRPr lang="en-US" sz="550" dirty="0"/>
          </a:p>
        </p:txBody>
      </p:sp>
      <p:sp>
        <p:nvSpPr>
          <p:cNvPr id="35" name="Shape 33"/>
          <p:cNvSpPr/>
          <p:nvPr/>
        </p:nvSpPr>
        <p:spPr>
          <a:xfrm>
            <a:off x="5582828" y="4031929"/>
            <a:ext cx="73152" cy="73152"/>
          </a:xfrm>
          <a:prstGeom prst="oval">
            <a:avLst/>
          </a:prstGeom>
          <a:solidFill>
            <a:srgbClr val="3498DB"/>
          </a:solidFill>
          <a:ln/>
        </p:spPr>
      </p:sp>
      <p:sp>
        <p:nvSpPr>
          <p:cNvPr id="36" name="Shape 34"/>
          <p:cNvSpPr/>
          <p:nvPr/>
        </p:nvSpPr>
        <p:spPr>
          <a:xfrm>
            <a:off x="5559968" y="1858621"/>
            <a:ext cx="118872" cy="118872"/>
          </a:xfrm>
          <a:prstGeom prst="oval">
            <a:avLst/>
          </a:prstGeom>
          <a:solidFill>
            <a:srgbClr val="3498DB"/>
          </a:solidFill>
          <a:ln w="6350">
            <a:solidFill>
              <a:srgbClr val="2980B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19404" y="4068505"/>
            <a:ext cx="0" cy="-2150448"/>
          </a:xfrm>
          <a:prstGeom prst="line">
            <a:avLst/>
          </a:prstGeom>
          <a:noFill/>
          <a:ln w="12700">
            <a:solidFill>
              <a:srgbClr val="3498DB"/>
            </a:solidFill>
            <a:prstDash val="dash"/>
          </a:ln>
        </p:spPr>
      </p:sp>
      <p:sp>
        <p:nvSpPr>
          <p:cNvPr id="38" name="Text 36"/>
          <p:cNvSpPr/>
          <p:nvPr/>
        </p:nvSpPr>
        <p:spPr>
          <a:xfrm>
            <a:off x="5692556" y="1844905"/>
            <a:ext cx="1005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2C3E50"/>
                </a:solidFill>
              </a:rPr>
              <a:t>BNフィルムワークス</a:t>
            </a:r>
            <a:endParaRPr lang="en-US" sz="550" dirty="0"/>
          </a:p>
        </p:txBody>
      </p:sp>
      <p:sp>
        <p:nvSpPr>
          <p:cNvPr id="39" name="Shape 37"/>
          <p:cNvSpPr/>
          <p:nvPr/>
        </p:nvSpPr>
        <p:spPr>
          <a:xfrm>
            <a:off x="2091482" y="4191837"/>
            <a:ext cx="73152" cy="73152"/>
          </a:xfrm>
          <a:prstGeom prst="oval">
            <a:avLst/>
          </a:prstGeom>
          <a:solidFill>
            <a:srgbClr val="3498DB"/>
          </a:solidFill>
          <a:ln/>
        </p:spPr>
      </p:sp>
      <p:sp>
        <p:nvSpPr>
          <p:cNvPr id="40" name="Shape 38"/>
          <p:cNvSpPr/>
          <p:nvPr/>
        </p:nvSpPr>
        <p:spPr>
          <a:xfrm>
            <a:off x="2068622" y="2298522"/>
            <a:ext cx="118872" cy="118872"/>
          </a:xfrm>
          <a:prstGeom prst="oval">
            <a:avLst/>
          </a:prstGeom>
          <a:solidFill>
            <a:srgbClr val="3498DB"/>
          </a:solidFill>
          <a:ln w="6350">
            <a:solidFill>
              <a:srgbClr val="2980B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128058" y="4228413"/>
            <a:ext cx="0" cy="-1870455"/>
          </a:xfrm>
          <a:prstGeom prst="line">
            <a:avLst/>
          </a:prstGeom>
          <a:noFill/>
          <a:ln w="12700">
            <a:solidFill>
              <a:srgbClr val="3498DB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2201210" y="2284806"/>
            <a:ext cx="1005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2C3E50"/>
                </a:solidFill>
              </a:rPr>
              <a:t>ufotable</a:t>
            </a:r>
            <a:endParaRPr lang="en-US" sz="550" dirty="0"/>
          </a:p>
        </p:txBody>
      </p:sp>
      <p:sp>
        <p:nvSpPr>
          <p:cNvPr id="43" name="Shape 41"/>
          <p:cNvSpPr/>
          <p:nvPr/>
        </p:nvSpPr>
        <p:spPr>
          <a:xfrm>
            <a:off x="3488020" y="3862420"/>
            <a:ext cx="73152" cy="73152"/>
          </a:xfrm>
          <a:prstGeom prst="oval">
            <a:avLst/>
          </a:prstGeom>
          <a:solidFill>
            <a:srgbClr val="3498DB"/>
          </a:solidFill>
          <a:ln/>
        </p:spPr>
      </p:sp>
      <p:sp>
        <p:nvSpPr>
          <p:cNvPr id="44" name="Shape 42"/>
          <p:cNvSpPr/>
          <p:nvPr/>
        </p:nvSpPr>
        <p:spPr>
          <a:xfrm>
            <a:off x="3465160" y="2012825"/>
            <a:ext cx="118872" cy="118872"/>
          </a:xfrm>
          <a:prstGeom prst="oval">
            <a:avLst/>
          </a:prstGeom>
          <a:solidFill>
            <a:srgbClr val="3498DB"/>
          </a:solidFill>
          <a:ln w="6350">
            <a:solidFill>
              <a:srgbClr val="2980B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524596" y="3898996"/>
            <a:ext cx="0" cy="-1826735"/>
          </a:xfrm>
          <a:prstGeom prst="line">
            <a:avLst/>
          </a:prstGeom>
          <a:noFill/>
          <a:ln w="12700">
            <a:solidFill>
              <a:srgbClr val="3498DB"/>
            </a:solidFill>
            <a:prstDash val="dash"/>
          </a:ln>
        </p:spPr>
      </p:sp>
      <p:sp>
        <p:nvSpPr>
          <p:cNvPr id="46" name="Text 44"/>
          <p:cNvSpPr/>
          <p:nvPr/>
        </p:nvSpPr>
        <p:spPr>
          <a:xfrm>
            <a:off x="3597748" y="1999109"/>
            <a:ext cx="1005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2C3E50"/>
                </a:solidFill>
              </a:rPr>
              <a:t>MAPPA</a:t>
            </a:r>
            <a:endParaRPr lang="en-US" sz="550" dirty="0"/>
          </a:p>
        </p:txBody>
      </p:sp>
      <p:sp>
        <p:nvSpPr>
          <p:cNvPr id="47" name="Shape 45"/>
          <p:cNvSpPr/>
          <p:nvPr/>
        </p:nvSpPr>
        <p:spPr>
          <a:xfrm>
            <a:off x="3837155" y="3862420"/>
            <a:ext cx="73152" cy="73152"/>
          </a:xfrm>
          <a:prstGeom prst="oval">
            <a:avLst/>
          </a:prstGeom>
          <a:solidFill>
            <a:srgbClr val="3498DB"/>
          </a:solidFill>
          <a:ln/>
        </p:spPr>
      </p:sp>
      <p:sp>
        <p:nvSpPr>
          <p:cNvPr id="48" name="Shape 46"/>
          <p:cNvSpPr/>
          <p:nvPr/>
        </p:nvSpPr>
        <p:spPr>
          <a:xfrm>
            <a:off x="3814295" y="2192473"/>
            <a:ext cx="118872" cy="118872"/>
          </a:xfrm>
          <a:prstGeom prst="oval">
            <a:avLst/>
          </a:prstGeom>
          <a:solidFill>
            <a:srgbClr val="3498DB"/>
          </a:solidFill>
          <a:ln w="6350">
            <a:solidFill>
              <a:srgbClr val="2980B9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873731" y="3898996"/>
            <a:ext cx="0" cy="-1647087"/>
          </a:xfrm>
          <a:prstGeom prst="line">
            <a:avLst/>
          </a:prstGeom>
          <a:noFill/>
          <a:ln w="12700">
            <a:solidFill>
              <a:srgbClr val="3498DB"/>
            </a:solidFill>
            <a:prstDash val="dash"/>
          </a:ln>
        </p:spPr>
      </p:sp>
      <p:sp>
        <p:nvSpPr>
          <p:cNvPr id="50" name="Text 48"/>
          <p:cNvSpPr/>
          <p:nvPr/>
        </p:nvSpPr>
        <p:spPr>
          <a:xfrm>
            <a:off x="3946883" y="2178757"/>
            <a:ext cx="1005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2C3E50"/>
                </a:solidFill>
              </a:rPr>
              <a:t>WIT STUDIO</a:t>
            </a:r>
            <a:endParaRPr lang="en-US" sz="550" dirty="0"/>
          </a:p>
        </p:txBody>
      </p:sp>
      <p:sp>
        <p:nvSpPr>
          <p:cNvPr id="51" name="Shape 49"/>
          <p:cNvSpPr/>
          <p:nvPr/>
        </p:nvSpPr>
        <p:spPr>
          <a:xfrm>
            <a:off x="6630231" y="4191837"/>
            <a:ext cx="73152" cy="73152"/>
          </a:xfrm>
          <a:prstGeom prst="oval">
            <a:avLst/>
          </a:prstGeom>
          <a:solidFill>
            <a:srgbClr val="3498DB"/>
          </a:solidFill>
          <a:ln/>
        </p:spPr>
      </p:sp>
      <p:sp>
        <p:nvSpPr>
          <p:cNvPr id="52" name="Shape 50"/>
          <p:cNvSpPr/>
          <p:nvPr/>
        </p:nvSpPr>
        <p:spPr>
          <a:xfrm>
            <a:off x="6607371" y="2445248"/>
            <a:ext cx="118872" cy="118872"/>
          </a:xfrm>
          <a:prstGeom prst="oval">
            <a:avLst/>
          </a:prstGeom>
          <a:solidFill>
            <a:srgbClr val="3498DB"/>
          </a:solidFill>
          <a:ln w="6350">
            <a:solidFill>
              <a:srgbClr val="2980B9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666807" y="4228413"/>
            <a:ext cx="0" cy="-1723729"/>
          </a:xfrm>
          <a:prstGeom prst="line">
            <a:avLst/>
          </a:prstGeom>
          <a:noFill/>
          <a:ln w="12700">
            <a:solidFill>
              <a:srgbClr val="3498DB"/>
            </a:solidFill>
            <a:prstDash val="dash"/>
          </a:ln>
        </p:spPr>
      </p:sp>
      <p:sp>
        <p:nvSpPr>
          <p:cNvPr id="54" name="Text 52"/>
          <p:cNvSpPr/>
          <p:nvPr/>
        </p:nvSpPr>
        <p:spPr>
          <a:xfrm>
            <a:off x="6739959" y="2431532"/>
            <a:ext cx="1005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2C3E50"/>
                </a:solidFill>
              </a:rPr>
              <a:t>京都アニメ</a:t>
            </a:r>
            <a:endParaRPr lang="en-US" sz="550" dirty="0"/>
          </a:p>
        </p:txBody>
      </p:sp>
      <p:sp>
        <p:nvSpPr>
          <p:cNvPr id="55" name="Shape 53"/>
          <p:cNvSpPr/>
          <p:nvPr/>
        </p:nvSpPr>
        <p:spPr>
          <a:xfrm>
            <a:off x="4535424" y="3968469"/>
            <a:ext cx="73152" cy="73152"/>
          </a:xfrm>
          <a:prstGeom prst="oval">
            <a:avLst/>
          </a:prstGeom>
          <a:solidFill>
            <a:srgbClr val="3498DB"/>
          </a:solidFill>
          <a:ln/>
        </p:spPr>
      </p:sp>
      <p:sp>
        <p:nvSpPr>
          <p:cNvPr id="56" name="Shape 54"/>
          <p:cNvSpPr/>
          <p:nvPr/>
        </p:nvSpPr>
        <p:spPr>
          <a:xfrm>
            <a:off x="4512564" y="2662588"/>
            <a:ext cx="118872" cy="118872"/>
          </a:xfrm>
          <a:prstGeom prst="oval">
            <a:avLst/>
          </a:prstGeom>
          <a:solidFill>
            <a:srgbClr val="3498DB"/>
          </a:solidFill>
          <a:ln w="6350">
            <a:solidFill>
              <a:srgbClr val="2980B9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572000" y="4005045"/>
            <a:ext cx="0" cy="-1283020"/>
          </a:xfrm>
          <a:prstGeom prst="line">
            <a:avLst/>
          </a:prstGeom>
          <a:noFill/>
          <a:ln w="12700">
            <a:solidFill>
              <a:srgbClr val="3498DB"/>
            </a:solidFill>
            <a:prstDash val="dash"/>
          </a:ln>
        </p:spPr>
      </p:sp>
      <p:sp>
        <p:nvSpPr>
          <p:cNvPr id="58" name="Text 56"/>
          <p:cNvSpPr/>
          <p:nvPr/>
        </p:nvSpPr>
        <p:spPr>
          <a:xfrm>
            <a:off x="4645152" y="2648872"/>
            <a:ext cx="1005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2C3E50"/>
                </a:solidFill>
              </a:rPr>
              <a:t>ボンズ</a:t>
            </a:r>
            <a:endParaRPr lang="en-US" sz="550" dirty="0"/>
          </a:p>
        </p:txBody>
      </p:sp>
      <p:sp>
        <p:nvSpPr>
          <p:cNvPr id="59" name="Shape 57"/>
          <p:cNvSpPr/>
          <p:nvPr/>
        </p:nvSpPr>
        <p:spPr>
          <a:xfrm>
            <a:off x="2091482" y="4191837"/>
            <a:ext cx="73152" cy="73152"/>
          </a:xfrm>
          <a:prstGeom prst="oval">
            <a:avLst/>
          </a:prstGeom>
          <a:solidFill>
            <a:srgbClr val="3498DB"/>
          </a:solidFill>
          <a:ln/>
        </p:spPr>
      </p:sp>
      <p:sp>
        <p:nvSpPr>
          <p:cNvPr id="60" name="Shape 58"/>
          <p:cNvSpPr/>
          <p:nvPr/>
        </p:nvSpPr>
        <p:spPr>
          <a:xfrm>
            <a:off x="2068622" y="2223145"/>
            <a:ext cx="118872" cy="118872"/>
          </a:xfrm>
          <a:prstGeom prst="oval">
            <a:avLst/>
          </a:prstGeom>
          <a:solidFill>
            <a:srgbClr val="3498DB"/>
          </a:solidFill>
          <a:ln w="6350">
            <a:solidFill>
              <a:srgbClr val="2980B9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128058" y="4228413"/>
            <a:ext cx="0" cy="-1945832"/>
          </a:xfrm>
          <a:prstGeom prst="line">
            <a:avLst/>
          </a:prstGeom>
          <a:noFill/>
          <a:ln w="12700">
            <a:solidFill>
              <a:srgbClr val="3498DB"/>
            </a:solidFill>
            <a:prstDash val="dash"/>
          </a:ln>
        </p:spPr>
      </p:sp>
      <p:sp>
        <p:nvSpPr>
          <p:cNvPr id="62" name="Text 60"/>
          <p:cNvSpPr/>
          <p:nvPr/>
        </p:nvSpPr>
        <p:spPr>
          <a:xfrm>
            <a:off x="2201210" y="2209429"/>
            <a:ext cx="1005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2C3E50"/>
                </a:solidFill>
              </a:rPr>
              <a:t>ポリゴンP</a:t>
            </a:r>
            <a:endParaRPr lang="en-US" sz="550" dirty="0"/>
          </a:p>
        </p:txBody>
      </p:sp>
      <p:sp>
        <p:nvSpPr>
          <p:cNvPr id="63" name="Shape 61"/>
          <p:cNvSpPr/>
          <p:nvPr/>
        </p:nvSpPr>
        <p:spPr>
          <a:xfrm>
            <a:off x="4884559" y="4297886"/>
            <a:ext cx="73152" cy="73152"/>
          </a:xfrm>
          <a:prstGeom prst="oval">
            <a:avLst/>
          </a:prstGeom>
          <a:solidFill>
            <a:srgbClr val="3498DB"/>
          </a:solidFill>
          <a:ln/>
        </p:spPr>
      </p:sp>
      <p:sp>
        <p:nvSpPr>
          <p:cNvPr id="64" name="Shape 62"/>
          <p:cNvSpPr/>
          <p:nvPr/>
        </p:nvSpPr>
        <p:spPr>
          <a:xfrm>
            <a:off x="4861699" y="3065266"/>
            <a:ext cx="118872" cy="118872"/>
          </a:xfrm>
          <a:prstGeom prst="oval">
            <a:avLst/>
          </a:prstGeom>
          <a:solidFill>
            <a:srgbClr val="3498DB"/>
          </a:solidFill>
          <a:ln w="6350">
            <a:solidFill>
              <a:srgbClr val="2980B9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921135" y="4334462"/>
            <a:ext cx="0" cy="-1209761"/>
          </a:xfrm>
          <a:prstGeom prst="line">
            <a:avLst/>
          </a:prstGeom>
          <a:noFill/>
          <a:ln w="12700">
            <a:solidFill>
              <a:srgbClr val="3498DB"/>
            </a:solidFill>
            <a:prstDash val="dash"/>
          </a:ln>
        </p:spPr>
      </p:sp>
      <p:sp>
        <p:nvSpPr>
          <p:cNvPr id="66" name="Text 64"/>
          <p:cNvSpPr/>
          <p:nvPr/>
        </p:nvSpPr>
        <p:spPr>
          <a:xfrm>
            <a:off x="4994287" y="3051550"/>
            <a:ext cx="1005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2C3E50"/>
                </a:solidFill>
              </a:rPr>
              <a:t>Science SARU</a:t>
            </a:r>
            <a:endParaRPr lang="en-US" sz="550" dirty="0"/>
          </a:p>
        </p:txBody>
      </p:sp>
      <p:sp>
        <p:nvSpPr>
          <p:cNvPr id="67" name="Shape 65"/>
          <p:cNvSpPr/>
          <p:nvPr/>
        </p:nvSpPr>
        <p:spPr>
          <a:xfrm>
            <a:off x="6630231" y="4627303"/>
            <a:ext cx="73152" cy="73152"/>
          </a:xfrm>
          <a:prstGeom prst="oval">
            <a:avLst/>
          </a:prstGeom>
          <a:solidFill>
            <a:srgbClr val="3498DB"/>
          </a:solidFill>
          <a:ln/>
        </p:spPr>
      </p:sp>
      <p:sp>
        <p:nvSpPr>
          <p:cNvPr id="68" name="Shape 66"/>
          <p:cNvSpPr/>
          <p:nvPr/>
        </p:nvSpPr>
        <p:spPr>
          <a:xfrm>
            <a:off x="6607371" y="2713105"/>
            <a:ext cx="118872" cy="118872"/>
          </a:xfrm>
          <a:prstGeom prst="oval">
            <a:avLst/>
          </a:prstGeom>
          <a:solidFill>
            <a:srgbClr val="3498DB"/>
          </a:solidFill>
          <a:ln w="6350">
            <a:solidFill>
              <a:srgbClr val="2980B9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666807" y="4663879"/>
            <a:ext cx="0" cy="-1891339"/>
          </a:xfrm>
          <a:prstGeom prst="line">
            <a:avLst/>
          </a:prstGeom>
          <a:noFill/>
          <a:ln w="12700">
            <a:solidFill>
              <a:srgbClr val="3498DB"/>
            </a:solidFill>
            <a:prstDash val="dash"/>
          </a:ln>
        </p:spPr>
      </p:sp>
      <p:sp>
        <p:nvSpPr>
          <p:cNvPr id="70" name="Text 68"/>
          <p:cNvSpPr/>
          <p:nvPr/>
        </p:nvSpPr>
        <p:spPr>
          <a:xfrm>
            <a:off x="6739959" y="2699389"/>
            <a:ext cx="1005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2C3E50"/>
                </a:solidFill>
              </a:rPr>
              <a:t>ツインエンジン</a:t>
            </a:r>
            <a:endParaRPr lang="en-US" sz="550" dirty="0"/>
          </a:p>
        </p:txBody>
      </p:sp>
      <p:sp>
        <p:nvSpPr>
          <p:cNvPr id="71" name="Shape 69"/>
          <p:cNvSpPr/>
          <p:nvPr/>
        </p:nvSpPr>
        <p:spPr>
          <a:xfrm>
            <a:off x="7677635" y="3203585"/>
            <a:ext cx="73152" cy="73152"/>
          </a:xfrm>
          <a:prstGeom prst="oval">
            <a:avLst/>
          </a:prstGeom>
          <a:solidFill>
            <a:srgbClr val="E74C3C"/>
          </a:solidFill>
          <a:ln/>
        </p:spPr>
      </p:sp>
      <p:sp>
        <p:nvSpPr>
          <p:cNvPr id="72" name="Shape 70"/>
          <p:cNvSpPr/>
          <p:nvPr/>
        </p:nvSpPr>
        <p:spPr>
          <a:xfrm>
            <a:off x="7654775" y="1605663"/>
            <a:ext cx="118872" cy="118872"/>
          </a:xfrm>
          <a:prstGeom prst="oval">
            <a:avLst/>
          </a:prstGeom>
          <a:solidFill>
            <a:srgbClr val="E74C3C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714211" y="3240161"/>
            <a:ext cx="0" cy="-1575063"/>
          </a:xfrm>
          <a:prstGeom prst="line">
            <a:avLst/>
          </a:prstGeom>
          <a:noFill/>
          <a:ln w="12700">
            <a:solidFill>
              <a:srgbClr val="E74C3C"/>
            </a:solidFill>
            <a:prstDash val="dash"/>
          </a:ln>
        </p:spPr>
      </p:sp>
      <p:sp>
        <p:nvSpPr>
          <p:cNvPr id="74" name="Text 72"/>
          <p:cNvSpPr/>
          <p:nvPr/>
        </p:nvSpPr>
        <p:spPr>
          <a:xfrm>
            <a:off x="7787363" y="1591947"/>
            <a:ext cx="1005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922B21"/>
                </a:solidFill>
              </a:rPr>
              <a:t>Pixar</a:t>
            </a:r>
            <a:endParaRPr lang="en-US" sz="550" dirty="0"/>
          </a:p>
        </p:txBody>
      </p:sp>
      <p:sp>
        <p:nvSpPr>
          <p:cNvPr id="75" name="Shape 73"/>
          <p:cNvSpPr/>
          <p:nvPr/>
        </p:nvSpPr>
        <p:spPr>
          <a:xfrm>
            <a:off x="7328500" y="2332653"/>
            <a:ext cx="73152" cy="73152"/>
          </a:xfrm>
          <a:prstGeom prst="oval">
            <a:avLst/>
          </a:prstGeom>
          <a:solidFill>
            <a:srgbClr val="E74C3C"/>
          </a:solidFill>
          <a:ln/>
        </p:spPr>
      </p:sp>
      <p:sp>
        <p:nvSpPr>
          <p:cNvPr id="76" name="Shape 74"/>
          <p:cNvSpPr/>
          <p:nvPr/>
        </p:nvSpPr>
        <p:spPr>
          <a:xfrm>
            <a:off x="7305640" y="1178917"/>
            <a:ext cx="118872" cy="118872"/>
          </a:xfrm>
          <a:prstGeom prst="oval">
            <a:avLst/>
          </a:prstGeom>
          <a:solidFill>
            <a:srgbClr val="E74C3C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7365076" y="2369229"/>
            <a:ext cx="0" cy="-1130876"/>
          </a:xfrm>
          <a:prstGeom prst="line">
            <a:avLst/>
          </a:prstGeom>
          <a:noFill/>
          <a:ln w="12700">
            <a:solidFill>
              <a:srgbClr val="E74C3C"/>
            </a:solidFill>
            <a:prstDash val="dash"/>
          </a:ln>
        </p:spPr>
      </p:sp>
      <p:sp>
        <p:nvSpPr>
          <p:cNvPr id="78" name="Text 76"/>
          <p:cNvSpPr/>
          <p:nvPr/>
        </p:nvSpPr>
        <p:spPr>
          <a:xfrm>
            <a:off x="7438228" y="1165201"/>
            <a:ext cx="1005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922B21"/>
                </a:solidFill>
              </a:rPr>
              <a:t>DreamWorks</a:t>
            </a:r>
            <a:endParaRPr lang="en-US" sz="550" dirty="0"/>
          </a:p>
        </p:txBody>
      </p:sp>
      <p:sp>
        <p:nvSpPr>
          <p:cNvPr id="79" name="Shape 77"/>
          <p:cNvSpPr/>
          <p:nvPr/>
        </p:nvSpPr>
        <p:spPr>
          <a:xfrm>
            <a:off x="3837155" y="4434607"/>
            <a:ext cx="73152" cy="73152"/>
          </a:xfrm>
          <a:prstGeom prst="oval">
            <a:avLst/>
          </a:prstGeom>
          <a:solidFill>
            <a:srgbClr val="E74C3C"/>
          </a:solidFill>
          <a:ln/>
        </p:spPr>
      </p:sp>
      <p:sp>
        <p:nvSpPr>
          <p:cNvPr id="80" name="Shape 78"/>
          <p:cNvSpPr/>
          <p:nvPr/>
        </p:nvSpPr>
        <p:spPr>
          <a:xfrm>
            <a:off x="3814295" y="2620571"/>
            <a:ext cx="118872" cy="118872"/>
          </a:xfrm>
          <a:prstGeom prst="oval">
            <a:avLst/>
          </a:prstGeom>
          <a:solidFill>
            <a:srgbClr val="E74C3C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3873731" y="4471183"/>
            <a:ext cx="0" cy="-1791176"/>
          </a:xfrm>
          <a:prstGeom prst="line">
            <a:avLst/>
          </a:prstGeom>
          <a:noFill/>
          <a:ln w="12700">
            <a:solidFill>
              <a:srgbClr val="E74C3C"/>
            </a:solidFill>
            <a:prstDash val="dash"/>
          </a:ln>
        </p:spPr>
      </p:sp>
      <p:sp>
        <p:nvSpPr>
          <p:cNvPr id="82" name="Text 80"/>
          <p:cNvSpPr/>
          <p:nvPr/>
        </p:nvSpPr>
        <p:spPr>
          <a:xfrm>
            <a:off x="3946883" y="2606855"/>
            <a:ext cx="1005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922B21"/>
                </a:solidFill>
              </a:rPr>
              <a:t>Powerhouse</a:t>
            </a:r>
            <a:endParaRPr lang="en-US" sz="550" dirty="0"/>
          </a:p>
        </p:txBody>
      </p:sp>
      <p:sp>
        <p:nvSpPr>
          <p:cNvPr id="83" name="Shape 81"/>
          <p:cNvSpPr/>
          <p:nvPr/>
        </p:nvSpPr>
        <p:spPr>
          <a:xfrm>
            <a:off x="2091482" y="4627303"/>
            <a:ext cx="73152" cy="73152"/>
          </a:xfrm>
          <a:prstGeom prst="oval">
            <a:avLst/>
          </a:prstGeom>
          <a:solidFill>
            <a:srgbClr val="E74C3C"/>
          </a:solidFill>
          <a:ln/>
        </p:spPr>
      </p:sp>
      <p:sp>
        <p:nvSpPr>
          <p:cNvPr id="84" name="Shape 82"/>
          <p:cNvSpPr/>
          <p:nvPr/>
        </p:nvSpPr>
        <p:spPr>
          <a:xfrm>
            <a:off x="2068622" y="1564311"/>
            <a:ext cx="118872" cy="118872"/>
          </a:xfrm>
          <a:prstGeom prst="oval">
            <a:avLst/>
          </a:prstGeom>
          <a:solidFill>
            <a:srgbClr val="E74C3C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128058" y="4663879"/>
            <a:ext cx="0" cy="-3040133"/>
          </a:xfrm>
          <a:prstGeom prst="line">
            <a:avLst/>
          </a:prstGeom>
          <a:noFill/>
          <a:ln w="12700">
            <a:solidFill>
              <a:srgbClr val="E74C3C"/>
            </a:solidFill>
            <a:prstDash val="dash"/>
          </a:ln>
        </p:spPr>
      </p:sp>
      <p:sp>
        <p:nvSpPr>
          <p:cNvPr id="86" name="Text 84"/>
          <p:cNvSpPr/>
          <p:nvPr/>
        </p:nvSpPr>
        <p:spPr>
          <a:xfrm>
            <a:off x="2201210" y="1550595"/>
            <a:ext cx="1005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922B21"/>
                </a:solidFill>
              </a:rPr>
              <a:t>Titmouse</a:t>
            </a:r>
            <a:endParaRPr lang="en-US" sz="550" dirty="0"/>
          </a:p>
        </p:txBody>
      </p:sp>
      <p:sp>
        <p:nvSpPr>
          <p:cNvPr id="87" name="Shape 85"/>
          <p:cNvSpPr/>
          <p:nvPr/>
        </p:nvSpPr>
        <p:spPr>
          <a:xfrm>
            <a:off x="6979366" y="4434607"/>
            <a:ext cx="73152" cy="73152"/>
          </a:xfrm>
          <a:prstGeom prst="oval">
            <a:avLst/>
          </a:prstGeom>
          <a:solidFill>
            <a:srgbClr val="E74C3C"/>
          </a:solidFill>
          <a:ln/>
        </p:spPr>
      </p:sp>
      <p:sp>
        <p:nvSpPr>
          <p:cNvPr id="88" name="Shape 86"/>
          <p:cNvSpPr/>
          <p:nvPr/>
        </p:nvSpPr>
        <p:spPr>
          <a:xfrm>
            <a:off x="6956506" y="2223145"/>
            <a:ext cx="118872" cy="118872"/>
          </a:xfrm>
          <a:prstGeom prst="oval">
            <a:avLst/>
          </a:prstGeom>
          <a:solidFill>
            <a:srgbClr val="E74C3C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7015942" y="4471183"/>
            <a:ext cx="0" cy="-2188601"/>
          </a:xfrm>
          <a:prstGeom prst="line">
            <a:avLst/>
          </a:prstGeom>
          <a:noFill/>
          <a:ln w="12700">
            <a:solidFill>
              <a:srgbClr val="E74C3C"/>
            </a:solidFill>
            <a:prstDash val="dash"/>
          </a:ln>
        </p:spPr>
      </p:sp>
      <p:sp>
        <p:nvSpPr>
          <p:cNvPr id="90" name="Text 88"/>
          <p:cNvSpPr/>
          <p:nvPr/>
        </p:nvSpPr>
        <p:spPr>
          <a:xfrm>
            <a:off x="7089094" y="2209429"/>
            <a:ext cx="1005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922B21"/>
                </a:solidFill>
              </a:rPr>
              <a:t>Cartoon Saloon</a:t>
            </a:r>
            <a:endParaRPr lang="en-US" sz="550" dirty="0"/>
          </a:p>
        </p:txBody>
      </p:sp>
      <p:sp>
        <p:nvSpPr>
          <p:cNvPr id="91" name="Shape 89"/>
          <p:cNvSpPr/>
          <p:nvPr/>
        </p:nvSpPr>
        <p:spPr>
          <a:xfrm>
            <a:off x="4186289" y="4434607"/>
            <a:ext cx="73152" cy="73152"/>
          </a:xfrm>
          <a:prstGeom prst="oval">
            <a:avLst/>
          </a:prstGeom>
          <a:solidFill>
            <a:srgbClr val="E74C3C"/>
          </a:solidFill>
          <a:ln/>
        </p:spPr>
      </p:sp>
      <p:sp>
        <p:nvSpPr>
          <p:cNvPr id="92" name="Shape 90"/>
          <p:cNvSpPr/>
          <p:nvPr/>
        </p:nvSpPr>
        <p:spPr>
          <a:xfrm>
            <a:off x="4163429" y="2329194"/>
            <a:ext cx="118872" cy="118872"/>
          </a:xfrm>
          <a:prstGeom prst="oval">
            <a:avLst/>
          </a:prstGeom>
          <a:solidFill>
            <a:srgbClr val="E74C3C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4222865" y="4471183"/>
            <a:ext cx="0" cy="-2082553"/>
          </a:xfrm>
          <a:prstGeom prst="line">
            <a:avLst/>
          </a:prstGeom>
          <a:noFill/>
          <a:ln w="12700">
            <a:solidFill>
              <a:srgbClr val="E74C3C"/>
            </a:solidFill>
            <a:prstDash val="dash"/>
          </a:ln>
        </p:spPr>
      </p:sp>
      <p:sp>
        <p:nvSpPr>
          <p:cNvPr id="94" name="Text 92"/>
          <p:cNvSpPr/>
          <p:nvPr/>
        </p:nvSpPr>
        <p:spPr>
          <a:xfrm>
            <a:off x="4296017" y="2315478"/>
            <a:ext cx="1005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922B21"/>
                </a:solidFill>
              </a:rPr>
              <a:t>Fortiche</a:t>
            </a:r>
            <a:endParaRPr lang="en-US" sz="550" dirty="0"/>
          </a:p>
        </p:txBody>
      </p:sp>
      <p:sp>
        <p:nvSpPr>
          <p:cNvPr id="95" name="Shape 93"/>
          <p:cNvSpPr/>
          <p:nvPr/>
        </p:nvSpPr>
        <p:spPr>
          <a:xfrm>
            <a:off x="2091482" y="3533003"/>
            <a:ext cx="73152" cy="73152"/>
          </a:xfrm>
          <a:prstGeom prst="oval">
            <a:avLst/>
          </a:prstGeom>
          <a:solidFill>
            <a:srgbClr val="E74C3C"/>
          </a:solidFill>
          <a:ln/>
        </p:spPr>
      </p:sp>
      <p:sp>
        <p:nvSpPr>
          <p:cNvPr id="96" name="Shape 94"/>
          <p:cNvSpPr/>
          <p:nvPr/>
        </p:nvSpPr>
        <p:spPr>
          <a:xfrm>
            <a:off x="2068622" y="2658611"/>
            <a:ext cx="118872" cy="118872"/>
          </a:xfrm>
          <a:prstGeom prst="oval">
            <a:avLst/>
          </a:prstGeom>
          <a:solidFill>
            <a:srgbClr val="E74C3C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2128058" y="3569579"/>
            <a:ext cx="0" cy="-851531"/>
          </a:xfrm>
          <a:prstGeom prst="line">
            <a:avLst/>
          </a:prstGeom>
          <a:noFill/>
          <a:ln w="12700">
            <a:solidFill>
              <a:srgbClr val="E74C3C"/>
            </a:solidFill>
            <a:prstDash val="dash"/>
          </a:ln>
        </p:spPr>
      </p:sp>
      <p:sp>
        <p:nvSpPr>
          <p:cNvPr id="98" name="Text 96"/>
          <p:cNvSpPr/>
          <p:nvPr/>
        </p:nvSpPr>
        <p:spPr>
          <a:xfrm>
            <a:off x="2201210" y="2644895"/>
            <a:ext cx="1005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922B21"/>
                </a:solidFill>
              </a:rPr>
              <a:t>Studio Mir</a:t>
            </a:r>
            <a:endParaRPr lang="en-US" sz="550" dirty="0"/>
          </a:p>
        </p:txBody>
      </p:sp>
      <p:sp>
        <p:nvSpPr>
          <p:cNvPr id="99" name="Shape 97"/>
          <p:cNvSpPr/>
          <p:nvPr/>
        </p:nvSpPr>
        <p:spPr>
          <a:xfrm>
            <a:off x="7328500" y="4627303"/>
            <a:ext cx="73152" cy="73152"/>
          </a:xfrm>
          <a:prstGeom prst="oval">
            <a:avLst/>
          </a:prstGeom>
          <a:solidFill>
            <a:srgbClr val="E74C3C"/>
          </a:solidFill>
          <a:ln/>
        </p:spPr>
      </p:sp>
      <p:sp>
        <p:nvSpPr>
          <p:cNvPr id="100" name="Shape 98"/>
          <p:cNvSpPr/>
          <p:nvPr/>
        </p:nvSpPr>
        <p:spPr>
          <a:xfrm>
            <a:off x="7305640" y="3510143"/>
            <a:ext cx="118872" cy="118872"/>
          </a:xfrm>
          <a:prstGeom prst="oval">
            <a:avLst/>
          </a:prstGeom>
          <a:solidFill>
            <a:srgbClr val="E74C3C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365076" y="4663879"/>
            <a:ext cx="0" cy="-1094301"/>
          </a:xfrm>
          <a:prstGeom prst="line">
            <a:avLst/>
          </a:prstGeom>
          <a:noFill/>
          <a:ln w="12700">
            <a:solidFill>
              <a:srgbClr val="E74C3C"/>
            </a:solidFill>
            <a:prstDash val="dash"/>
          </a:ln>
        </p:spPr>
      </p:sp>
      <p:sp>
        <p:nvSpPr>
          <p:cNvPr id="102" name="Text 100"/>
          <p:cNvSpPr/>
          <p:nvPr/>
        </p:nvSpPr>
        <p:spPr>
          <a:xfrm>
            <a:off x="7438228" y="3496427"/>
            <a:ext cx="1005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922B21"/>
                </a:solidFill>
              </a:rPr>
              <a:t>Tonko House</a:t>
            </a:r>
            <a:endParaRPr lang="en-US" sz="550" dirty="0"/>
          </a:p>
        </p:txBody>
      </p:sp>
      <p:sp>
        <p:nvSpPr>
          <p:cNvPr id="103" name="Shape 101"/>
          <p:cNvSpPr/>
          <p:nvPr/>
        </p:nvSpPr>
        <p:spPr>
          <a:xfrm>
            <a:off x="6400800" y="1143000"/>
            <a:ext cx="1920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sx="100000" sy="100000" kx="0" ky="0" algn="bl" rotWithShape="0" blurRad="25400" dist="12700" dir="16200000">
              <a:srgbClr val="000000">
                <a:alpha val="10000"/>
              </a:srgbClr>
            </a:outerShdw>
          </a:effectLst>
        </p:spPr>
      </p:sp>
      <p:sp>
        <p:nvSpPr>
          <p:cNvPr id="104" name="Shape 102"/>
          <p:cNvSpPr/>
          <p:nvPr/>
        </p:nvSpPr>
        <p:spPr>
          <a:xfrm>
            <a:off x="6492240" y="1216152"/>
            <a:ext cx="91440" cy="91440"/>
          </a:xfrm>
          <a:prstGeom prst="oval">
            <a:avLst/>
          </a:prstGeom>
          <a:solidFill>
            <a:srgbClr val="3498DB"/>
          </a:solidFill>
          <a:ln/>
        </p:spPr>
      </p:sp>
      <p:sp>
        <p:nvSpPr>
          <p:cNvPr id="105" name="Text 103"/>
          <p:cNvSpPr/>
          <p:nvPr/>
        </p:nvSpPr>
        <p:spPr>
          <a:xfrm>
            <a:off x="6629400" y="117043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</a:rPr>
              <a:t>国内スタジオ</a:t>
            </a:r>
            <a:endParaRPr lang="en-US" sz="700" dirty="0"/>
          </a:p>
        </p:txBody>
      </p:sp>
      <p:sp>
        <p:nvSpPr>
          <p:cNvPr id="106" name="Shape 104"/>
          <p:cNvSpPr/>
          <p:nvPr/>
        </p:nvSpPr>
        <p:spPr>
          <a:xfrm>
            <a:off x="7406640" y="1216152"/>
            <a:ext cx="91440" cy="91440"/>
          </a:xfrm>
          <a:prstGeom prst="oval">
            <a:avLst/>
          </a:prstGeom>
          <a:solidFill>
            <a:srgbClr val="E74C3C"/>
          </a:solidFill>
          <a:ln/>
        </p:spPr>
      </p:sp>
      <p:sp>
        <p:nvSpPr>
          <p:cNvPr id="107" name="Text 105"/>
          <p:cNvSpPr/>
          <p:nvPr/>
        </p:nvSpPr>
        <p:spPr>
          <a:xfrm>
            <a:off x="7543800" y="117043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</a:rPr>
              <a:t>海外スタジオ</a:t>
            </a:r>
            <a:endParaRPr lang="en-US" sz="700" dirty="0"/>
          </a:p>
        </p:txBody>
      </p:sp>
      <p:sp>
        <p:nvSpPr>
          <p:cNvPr id="108" name="Shape 106"/>
          <p:cNvSpPr/>
          <p:nvPr/>
        </p:nvSpPr>
        <p:spPr>
          <a:xfrm>
            <a:off x="6492240" y="1399032"/>
            <a:ext cx="91440" cy="91440"/>
          </a:xfrm>
          <a:prstGeom prst="oval">
            <a:avLst/>
          </a:prstGeom>
          <a:solidFill>
            <a:srgbClr val="F1C40F"/>
          </a:solidFill>
          <a:ln/>
        </p:spPr>
      </p:sp>
      <p:sp>
        <p:nvSpPr>
          <p:cNvPr id="109" name="Text 107"/>
          <p:cNvSpPr/>
          <p:nvPr/>
        </p:nvSpPr>
        <p:spPr>
          <a:xfrm>
            <a:off x="6629400" y="135331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</a:rPr>
              <a:t>当社（提案）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9900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" y="152400"/>
            <a:ext cx="8705088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当社ポジショニング提案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04800" y="536525"/>
            <a:ext cx="870508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859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AI技術を活用した独自ポジションの検討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31520" y="2926080"/>
            <a:ext cx="7680960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1051560"/>
            <a:ext cx="0" cy="374904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051560"/>
            <a:ext cx="7680960" cy="3749040"/>
          </a:xfrm>
          <a:prstGeom prst="rect">
            <a:avLst/>
          </a:prstGeom>
          <a:ln w="9525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48463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</a:rPr>
              <a:t>受託メイン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0" y="48463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5555"/>
                </a:solidFill>
              </a:rPr>
              <a:t>オリジナルメイン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28600" y="4572439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2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731520" y="4663879"/>
            <a:ext cx="768096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228600" y="4136973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5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731520" y="4228413"/>
            <a:ext cx="768096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228600" y="3807556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10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731520" y="3898996"/>
            <a:ext cx="768096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228600" y="3478139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20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731520" y="3569579"/>
            <a:ext cx="768096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228600" y="3042673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50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731520" y="3134113"/>
            <a:ext cx="768096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228600" y="2713255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100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731520" y="2804695"/>
            <a:ext cx="768096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228600" y="238383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200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731520" y="2475278"/>
            <a:ext cx="768096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228600" y="1948372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500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731520" y="2039812"/>
            <a:ext cx="768096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228600" y="1618955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1K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731520" y="1710395"/>
            <a:ext cx="768096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228600" y="1289537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2K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731520" y="1380977"/>
            <a:ext cx="768096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182880" y="82296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5555"/>
                </a:solidFill>
              </a:rPr>
              <a:t>人数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861699" y="1670359"/>
            <a:ext cx="118872" cy="118872"/>
          </a:xfrm>
          <a:prstGeom prst="oval">
            <a:avLst/>
          </a:prstGeom>
          <a:solidFill>
            <a:srgbClr val="3498DB"/>
          </a:solidFill>
          <a:ln w="6350">
            <a:solidFill>
              <a:srgbClr val="2980B9"/>
            </a:solidFill>
            <a:prstDash val="solid"/>
          </a:ln>
          <a:effectLst>
            <a:outerShdw sx="100000" sy="100000" kx="0" ky="0" algn="bl" rotWithShape="0" blurRad="25400" dist="12700" dir="16200000">
              <a:srgbClr val="000000">
                <a:alpha val="2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068622" y="2212184"/>
            <a:ext cx="118872" cy="118872"/>
          </a:xfrm>
          <a:prstGeom prst="oval">
            <a:avLst/>
          </a:prstGeom>
          <a:solidFill>
            <a:srgbClr val="3498DB"/>
          </a:solidFill>
          <a:ln w="6350">
            <a:solidFill>
              <a:srgbClr val="2980B9"/>
            </a:solidFill>
            <a:prstDash val="solid"/>
          </a:ln>
          <a:effectLst>
            <a:outerShdw sx="100000" sy="100000" kx="0" ky="0" algn="bl" rotWithShape="0" blurRad="25400" dist="12700" dir="16200000">
              <a:srgbClr val="000000">
                <a:alpha val="2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559968" y="1858621"/>
            <a:ext cx="118872" cy="118872"/>
          </a:xfrm>
          <a:prstGeom prst="oval">
            <a:avLst/>
          </a:prstGeom>
          <a:solidFill>
            <a:srgbClr val="3498DB"/>
          </a:solidFill>
          <a:ln w="6350">
            <a:solidFill>
              <a:srgbClr val="2980B9"/>
            </a:solidFill>
            <a:prstDash val="solid"/>
          </a:ln>
          <a:effectLst>
            <a:outerShdw sx="100000" sy="100000" kx="0" ky="0" algn="bl" rotWithShape="0" blurRad="25400" dist="12700" dir="16200000">
              <a:srgbClr val="000000">
                <a:alpha val="2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512564" y="2372711"/>
            <a:ext cx="118872" cy="118872"/>
          </a:xfrm>
          <a:prstGeom prst="oval">
            <a:avLst/>
          </a:prstGeom>
          <a:solidFill>
            <a:srgbClr val="3498DB"/>
          </a:solidFill>
          <a:ln w="6350">
            <a:solidFill>
              <a:srgbClr val="2980B9"/>
            </a:solidFill>
            <a:prstDash val="solid"/>
          </a:ln>
          <a:effectLst>
            <a:outerShdw sx="100000" sy="100000" kx="0" ky="0" algn="bl" rotWithShape="0" blurRad="25400" dist="12700" dir="16200000">
              <a:srgbClr val="000000">
                <a:alpha val="2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068622" y="2298522"/>
            <a:ext cx="118872" cy="118872"/>
          </a:xfrm>
          <a:prstGeom prst="oval">
            <a:avLst/>
          </a:prstGeom>
          <a:solidFill>
            <a:srgbClr val="3498DB"/>
          </a:solidFill>
          <a:ln w="6350">
            <a:solidFill>
              <a:srgbClr val="2980B9"/>
            </a:solidFill>
            <a:prstDash val="solid"/>
          </a:ln>
          <a:effectLst>
            <a:outerShdw sx="100000" sy="100000" kx="0" ky="0" algn="bl" rotWithShape="0" blurRad="25400" dist="12700" dir="16200000">
              <a:srgbClr val="000000">
                <a:alpha val="2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465160" y="2012825"/>
            <a:ext cx="118872" cy="118872"/>
          </a:xfrm>
          <a:prstGeom prst="oval">
            <a:avLst/>
          </a:prstGeom>
          <a:solidFill>
            <a:srgbClr val="3498DB"/>
          </a:solidFill>
          <a:ln w="6350">
            <a:solidFill>
              <a:srgbClr val="2980B9"/>
            </a:solidFill>
            <a:prstDash val="solid"/>
          </a:ln>
          <a:effectLst>
            <a:outerShdw sx="100000" sy="100000" kx="0" ky="0" algn="bl" rotWithShape="0" blurRad="25400" dist="12700" dir="16200000">
              <a:srgbClr val="000000">
                <a:alpha val="2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814295" y="2192473"/>
            <a:ext cx="118872" cy="118872"/>
          </a:xfrm>
          <a:prstGeom prst="oval">
            <a:avLst/>
          </a:prstGeom>
          <a:solidFill>
            <a:srgbClr val="3498DB"/>
          </a:solidFill>
          <a:ln w="6350">
            <a:solidFill>
              <a:srgbClr val="2980B9"/>
            </a:solidFill>
            <a:prstDash val="solid"/>
          </a:ln>
          <a:effectLst>
            <a:outerShdw sx="100000" sy="100000" kx="0" ky="0" algn="bl" rotWithShape="0" blurRad="25400" dist="12700" dir="16200000">
              <a:srgbClr val="000000">
                <a:alpha val="2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068622" y="2329194"/>
            <a:ext cx="118872" cy="118872"/>
          </a:xfrm>
          <a:prstGeom prst="oval">
            <a:avLst/>
          </a:prstGeom>
          <a:solidFill>
            <a:srgbClr val="3498DB"/>
          </a:solidFill>
          <a:ln w="6350">
            <a:solidFill>
              <a:srgbClr val="2980B9"/>
            </a:solidFill>
            <a:prstDash val="solid"/>
          </a:ln>
          <a:effectLst>
            <a:outerShdw sx="100000" sy="100000" kx="0" ky="0" algn="bl" rotWithShape="0" blurRad="25400" dist="12700" dir="16200000">
              <a:srgbClr val="000000">
                <a:alpha val="2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2068622" y="2309793"/>
            <a:ext cx="118872" cy="118872"/>
          </a:xfrm>
          <a:prstGeom prst="oval">
            <a:avLst/>
          </a:prstGeom>
          <a:solidFill>
            <a:srgbClr val="3498DB"/>
          </a:solidFill>
          <a:ln w="6350">
            <a:solidFill>
              <a:srgbClr val="2980B9"/>
            </a:solidFill>
            <a:prstDash val="solid"/>
          </a:ln>
          <a:effectLst>
            <a:outerShdw sx="100000" sy="100000" kx="0" ky="0" algn="bl" rotWithShape="0" blurRad="25400" dist="12700" dir="16200000">
              <a:srgbClr val="000000">
                <a:alpha val="2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607371" y="2445248"/>
            <a:ext cx="118872" cy="118872"/>
          </a:xfrm>
          <a:prstGeom prst="oval">
            <a:avLst/>
          </a:prstGeom>
          <a:solidFill>
            <a:srgbClr val="3498DB"/>
          </a:solidFill>
          <a:ln w="6350">
            <a:solidFill>
              <a:srgbClr val="2980B9"/>
            </a:solidFill>
            <a:prstDash val="solid"/>
          </a:ln>
          <a:effectLst>
            <a:outerShdw sx="100000" sy="100000" kx="0" ky="0" algn="bl" rotWithShape="0" blurRad="25400" dist="12700" dir="16200000">
              <a:srgbClr val="000000">
                <a:alpha val="2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2417757" y="2745259"/>
            <a:ext cx="118872" cy="118872"/>
          </a:xfrm>
          <a:prstGeom prst="oval">
            <a:avLst/>
          </a:prstGeom>
          <a:solidFill>
            <a:srgbClr val="3498DB"/>
          </a:solidFill>
          <a:ln w="6350">
            <a:solidFill>
              <a:srgbClr val="2980B9"/>
            </a:solidFill>
            <a:prstDash val="solid"/>
          </a:ln>
          <a:effectLst>
            <a:outerShdw sx="100000" sy="100000" kx="0" ky="0" algn="bl" rotWithShape="0" blurRad="25400" dist="12700" dir="16200000">
              <a:srgbClr val="000000">
                <a:alpha val="2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512564" y="2662588"/>
            <a:ext cx="118872" cy="118872"/>
          </a:xfrm>
          <a:prstGeom prst="oval">
            <a:avLst/>
          </a:prstGeom>
          <a:solidFill>
            <a:srgbClr val="3498DB"/>
          </a:solidFill>
          <a:ln w="6350">
            <a:solidFill>
              <a:srgbClr val="2980B9"/>
            </a:solidFill>
            <a:prstDash val="solid"/>
          </a:ln>
          <a:effectLst>
            <a:outerShdw sx="100000" sy="100000" kx="0" ky="0" algn="bl" rotWithShape="0" blurRad="25400" dist="12700" dir="16200000">
              <a:srgbClr val="000000">
                <a:alpha val="2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2417757" y="2914769"/>
            <a:ext cx="118872" cy="118872"/>
          </a:xfrm>
          <a:prstGeom prst="oval">
            <a:avLst/>
          </a:prstGeom>
          <a:solidFill>
            <a:srgbClr val="3498DB"/>
          </a:solidFill>
          <a:ln w="6350">
            <a:solidFill>
              <a:srgbClr val="2980B9"/>
            </a:solidFill>
            <a:prstDash val="solid"/>
          </a:ln>
          <a:effectLst>
            <a:outerShdw sx="100000" sy="100000" kx="0" ky="0" algn="bl" rotWithShape="0" blurRad="25400" dist="12700" dir="16200000">
              <a:srgbClr val="000000">
                <a:alpha val="2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2068622" y="2223145"/>
            <a:ext cx="118872" cy="118872"/>
          </a:xfrm>
          <a:prstGeom prst="oval">
            <a:avLst/>
          </a:prstGeom>
          <a:solidFill>
            <a:srgbClr val="3498DB"/>
          </a:solidFill>
          <a:ln w="6350">
            <a:solidFill>
              <a:srgbClr val="2980B9"/>
            </a:solidFill>
            <a:prstDash val="solid"/>
          </a:ln>
          <a:effectLst>
            <a:outerShdw sx="100000" sy="100000" kx="0" ky="0" algn="bl" rotWithShape="0" blurRad="25400" dist="12700" dir="16200000">
              <a:srgbClr val="000000">
                <a:alpha val="2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2417757" y="2493079"/>
            <a:ext cx="118872" cy="118872"/>
          </a:xfrm>
          <a:prstGeom prst="oval">
            <a:avLst/>
          </a:prstGeom>
          <a:solidFill>
            <a:srgbClr val="3498DB"/>
          </a:solidFill>
          <a:ln w="6350">
            <a:solidFill>
              <a:srgbClr val="2980B9"/>
            </a:solidFill>
            <a:prstDash val="solid"/>
          </a:ln>
          <a:effectLst>
            <a:outerShdw sx="100000" sy="100000" kx="0" ky="0" algn="bl" rotWithShape="0" blurRad="25400" dist="12700" dir="16200000">
              <a:srgbClr val="000000">
                <a:alpha val="2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861699" y="3065266"/>
            <a:ext cx="118872" cy="118872"/>
          </a:xfrm>
          <a:prstGeom prst="oval">
            <a:avLst/>
          </a:prstGeom>
          <a:solidFill>
            <a:srgbClr val="3498DB"/>
          </a:solidFill>
          <a:ln w="6350">
            <a:solidFill>
              <a:srgbClr val="2980B9"/>
            </a:solidFill>
            <a:prstDash val="solid"/>
          </a:ln>
          <a:effectLst>
            <a:outerShdw sx="100000" sy="100000" kx="0" ky="0" algn="bl" rotWithShape="0" blurRad="25400" dist="12700" dir="16200000">
              <a:srgbClr val="000000">
                <a:alpha val="2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258237" y="3180725"/>
            <a:ext cx="118872" cy="118872"/>
          </a:xfrm>
          <a:prstGeom prst="oval">
            <a:avLst/>
          </a:prstGeom>
          <a:solidFill>
            <a:srgbClr val="3498DB"/>
          </a:solidFill>
          <a:ln w="6350">
            <a:solidFill>
              <a:srgbClr val="2980B9"/>
            </a:solidFill>
            <a:prstDash val="solid"/>
          </a:ln>
          <a:effectLst>
            <a:outerShdw sx="100000" sy="100000" kx="0" ky="0" algn="bl" rotWithShape="0" blurRad="25400" dist="12700" dir="16200000">
              <a:srgbClr val="000000">
                <a:alpha val="2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607371" y="2713105"/>
            <a:ext cx="118872" cy="118872"/>
          </a:xfrm>
          <a:prstGeom prst="oval">
            <a:avLst/>
          </a:prstGeom>
          <a:solidFill>
            <a:srgbClr val="3498DB"/>
          </a:solidFill>
          <a:ln w="6350">
            <a:solidFill>
              <a:srgbClr val="2980B9"/>
            </a:solidFill>
            <a:prstDash val="solid"/>
          </a:ln>
          <a:effectLst>
            <a:outerShdw sx="100000" sy="100000" kx="0" ky="0" algn="bl" rotWithShape="0" blurRad="25400" dist="12700" dir="16200000">
              <a:srgbClr val="000000">
                <a:alpha val="2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7654775" y="1605663"/>
            <a:ext cx="118872" cy="118872"/>
          </a:xfrm>
          <a:prstGeom prst="oval">
            <a:avLst/>
          </a:prstGeom>
          <a:solidFill>
            <a:srgbClr val="E74C3C"/>
          </a:solidFill>
          <a:ln w="6350">
            <a:solidFill>
              <a:srgbClr val="C0392B"/>
            </a:solidFill>
            <a:prstDash val="solid"/>
          </a:ln>
          <a:effectLst>
            <a:outerShdw sx="100000" sy="100000" kx="0" ky="0" algn="bl" rotWithShape="0" blurRad="25400" dist="12700" dir="16200000">
              <a:srgbClr val="000000">
                <a:alpha val="2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7305640" y="1178917"/>
            <a:ext cx="118872" cy="118872"/>
          </a:xfrm>
          <a:prstGeom prst="oval">
            <a:avLst/>
          </a:prstGeom>
          <a:solidFill>
            <a:srgbClr val="E74C3C"/>
          </a:solidFill>
          <a:ln w="6350">
            <a:solidFill>
              <a:srgbClr val="C0392B"/>
            </a:solidFill>
            <a:prstDash val="solid"/>
          </a:ln>
          <a:effectLst>
            <a:outerShdw sx="100000" sy="100000" kx="0" ky="0" algn="bl" rotWithShape="0" blurRad="25400" dist="12700" dir="16200000">
              <a:srgbClr val="000000">
                <a:alpha val="2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7305640" y="1757007"/>
            <a:ext cx="118872" cy="118872"/>
          </a:xfrm>
          <a:prstGeom prst="oval">
            <a:avLst/>
          </a:prstGeom>
          <a:solidFill>
            <a:srgbClr val="E74C3C"/>
          </a:solidFill>
          <a:ln w="6350">
            <a:solidFill>
              <a:srgbClr val="C0392B"/>
            </a:solidFill>
            <a:prstDash val="solid"/>
          </a:ln>
          <a:effectLst>
            <a:outerShdw sx="100000" sy="100000" kx="0" ky="0" algn="bl" rotWithShape="0" blurRad="25400" dist="12700" dir="16200000">
              <a:srgbClr val="000000">
                <a:alpha val="2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3814295" y="2620571"/>
            <a:ext cx="118872" cy="118872"/>
          </a:xfrm>
          <a:prstGeom prst="oval">
            <a:avLst/>
          </a:prstGeom>
          <a:solidFill>
            <a:srgbClr val="E74C3C"/>
          </a:solidFill>
          <a:ln w="6350">
            <a:solidFill>
              <a:srgbClr val="C0392B"/>
            </a:solidFill>
            <a:prstDash val="solid"/>
          </a:ln>
          <a:effectLst>
            <a:outerShdw sx="100000" sy="100000" kx="0" ky="0" algn="bl" rotWithShape="0" blurRad="25400" dist="12700" dir="16200000">
              <a:srgbClr val="000000">
                <a:alpha val="2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2068622" y="1564311"/>
            <a:ext cx="118872" cy="118872"/>
          </a:xfrm>
          <a:prstGeom prst="oval">
            <a:avLst/>
          </a:prstGeom>
          <a:solidFill>
            <a:srgbClr val="E74C3C"/>
          </a:solidFill>
          <a:ln w="6350">
            <a:solidFill>
              <a:srgbClr val="C0392B"/>
            </a:solidFill>
            <a:prstDash val="solid"/>
          </a:ln>
          <a:effectLst>
            <a:outerShdw sx="100000" sy="100000" kx="0" ky="0" algn="bl" rotWithShape="0" blurRad="25400" dist="12700" dir="16200000">
              <a:srgbClr val="000000">
                <a:alpha val="2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6956506" y="2223145"/>
            <a:ext cx="118872" cy="118872"/>
          </a:xfrm>
          <a:prstGeom prst="oval">
            <a:avLst/>
          </a:prstGeom>
          <a:solidFill>
            <a:srgbClr val="E74C3C"/>
          </a:solidFill>
          <a:ln w="6350">
            <a:solidFill>
              <a:srgbClr val="C0392B"/>
            </a:solidFill>
            <a:prstDash val="solid"/>
          </a:ln>
          <a:effectLst>
            <a:outerShdw sx="100000" sy="100000" kx="0" ky="0" algn="bl" rotWithShape="0" blurRad="25400" dist="12700" dir="16200000">
              <a:srgbClr val="000000">
                <a:alpha val="20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4163429" y="2329194"/>
            <a:ext cx="118872" cy="118872"/>
          </a:xfrm>
          <a:prstGeom prst="oval">
            <a:avLst/>
          </a:prstGeom>
          <a:solidFill>
            <a:srgbClr val="E74C3C"/>
          </a:solidFill>
          <a:ln w="6350">
            <a:solidFill>
              <a:srgbClr val="C0392B"/>
            </a:solidFill>
            <a:prstDash val="solid"/>
          </a:ln>
          <a:effectLst>
            <a:outerShdw sx="100000" sy="100000" kx="0" ky="0" algn="bl" rotWithShape="0" blurRad="25400" dist="12700" dir="16200000">
              <a:srgbClr val="000000">
                <a:alpha val="20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1370353" y="2086425"/>
            <a:ext cx="118872" cy="118872"/>
          </a:xfrm>
          <a:prstGeom prst="oval">
            <a:avLst/>
          </a:prstGeom>
          <a:solidFill>
            <a:srgbClr val="E74C3C"/>
          </a:solidFill>
          <a:ln w="6350">
            <a:solidFill>
              <a:srgbClr val="C0392B"/>
            </a:solidFill>
            <a:prstDash val="solid"/>
          </a:ln>
          <a:effectLst>
            <a:outerShdw sx="100000" sy="100000" kx="0" ky="0" algn="bl" rotWithShape="0" blurRad="25400" dist="12700" dir="16200000">
              <a:srgbClr val="000000">
                <a:alpha val="20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2068622" y="2658611"/>
            <a:ext cx="118872" cy="118872"/>
          </a:xfrm>
          <a:prstGeom prst="oval">
            <a:avLst/>
          </a:prstGeom>
          <a:solidFill>
            <a:srgbClr val="E74C3C"/>
          </a:solidFill>
          <a:ln w="6350">
            <a:solidFill>
              <a:srgbClr val="C0392B"/>
            </a:solidFill>
            <a:prstDash val="solid"/>
          </a:ln>
          <a:effectLst>
            <a:outerShdw sx="100000" sy="100000" kx="0" ky="0" algn="bl" rotWithShape="0" blurRad="25400" dist="12700" dir="16200000">
              <a:srgbClr val="000000">
                <a:alpha val="20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3814295" y="2415842"/>
            <a:ext cx="118872" cy="118872"/>
          </a:xfrm>
          <a:prstGeom prst="oval">
            <a:avLst/>
          </a:prstGeom>
          <a:solidFill>
            <a:srgbClr val="E74C3C"/>
          </a:solidFill>
          <a:ln w="6350">
            <a:solidFill>
              <a:srgbClr val="C0392B"/>
            </a:solidFill>
            <a:prstDash val="solid"/>
          </a:ln>
          <a:effectLst>
            <a:outerShdw sx="100000" sy="100000" kx="0" ky="0" algn="bl" rotWithShape="0" blurRad="25400" dist="12700" dir="16200000">
              <a:srgbClr val="000000">
                <a:alpha val="20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7305640" y="3510143"/>
            <a:ext cx="118872" cy="118872"/>
          </a:xfrm>
          <a:prstGeom prst="oval">
            <a:avLst/>
          </a:prstGeom>
          <a:solidFill>
            <a:srgbClr val="E74C3C"/>
          </a:solidFill>
          <a:ln w="6350">
            <a:solidFill>
              <a:srgbClr val="C0392B"/>
            </a:solidFill>
            <a:prstDash val="solid"/>
          </a:ln>
          <a:effectLst>
            <a:outerShdw sx="100000" sy="100000" kx="0" ky="0" algn="bl" rotWithShape="0" blurRad="25400" dist="12700" dir="16200000">
              <a:srgbClr val="000000">
                <a:alpha val="20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5997633" y="3386259"/>
            <a:ext cx="640080" cy="640080"/>
          </a:xfrm>
          <a:prstGeom prst="oval">
            <a:avLst/>
          </a:prstGeom>
          <a:solidFill>
            <a:srgbClr val="F1C40F"/>
          </a:solidFill>
          <a:ln w="25400">
            <a:solidFill>
              <a:srgbClr val="F39C12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30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5997633" y="3614859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C2833"/>
                </a:solidFill>
              </a:rPr>
              <a:t>当社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457200" y="3337560"/>
            <a:ext cx="2560320" cy="1371600"/>
          </a:xfrm>
          <a:prstGeom prst="rect">
            <a:avLst>
              <a:gd name="adj" fmla="val 6667"/>
            </a:avLst>
          </a:prstGeom>
          <a:solidFill>
            <a:srgbClr val="F8F9FA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48640" y="342900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C2833"/>
                </a:solidFill>
              </a:rPr>
              <a:t>提案ポジション
</a:t>
            </a:r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小規模 × オリジナル制作
</a:t>
            </a:r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</a:rPr>
              <a:t>AI技術による制作効率化で
</a:t>
            </a:r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</a:rPr>
              <a:t>少人数でもオリジナルIP創出が可能
</a:t>
            </a:r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競合: Tonko House, Colorido
</a:t>
            </a:r>
            <a:pPr indent="0" marL="0">
              <a:buNone/>
            </a:pPr>
            <a:r>
              <a:rPr lang="en-US" sz="650" b="1" dirty="0">
                <a:solidFill>
                  <a:srgbClr val="3498DB"/>
                </a:solidFill>
              </a:rPr>
              <a:t>差別化: AI活用による生産性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6400800" y="1143000"/>
            <a:ext cx="1920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sx="100000" sy="100000" kx="0" ky="0" algn="bl" rotWithShape="0" blurRad="25400" dist="12700" dir="16200000">
              <a:srgbClr val="000000">
                <a:alpha val="10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6492240" y="1216152"/>
            <a:ext cx="91440" cy="91440"/>
          </a:xfrm>
          <a:prstGeom prst="oval">
            <a:avLst/>
          </a:prstGeom>
          <a:solidFill>
            <a:srgbClr val="3498DB"/>
          </a:solidFill>
          <a:ln/>
        </p:spPr>
      </p:sp>
      <p:sp>
        <p:nvSpPr>
          <p:cNvPr id="66" name="Text 64"/>
          <p:cNvSpPr/>
          <p:nvPr/>
        </p:nvSpPr>
        <p:spPr>
          <a:xfrm>
            <a:off x="6629400" y="117043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</a:rPr>
              <a:t>国内スタジオ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7406640" y="1216152"/>
            <a:ext cx="91440" cy="91440"/>
          </a:xfrm>
          <a:prstGeom prst="oval">
            <a:avLst/>
          </a:prstGeom>
          <a:solidFill>
            <a:srgbClr val="E74C3C"/>
          </a:solidFill>
          <a:ln/>
        </p:spPr>
      </p:sp>
      <p:sp>
        <p:nvSpPr>
          <p:cNvPr id="68" name="Text 66"/>
          <p:cNvSpPr/>
          <p:nvPr/>
        </p:nvSpPr>
        <p:spPr>
          <a:xfrm>
            <a:off x="7543800" y="117043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</a:rPr>
              <a:t>海外スタジオ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6492240" y="1399032"/>
            <a:ext cx="91440" cy="91440"/>
          </a:xfrm>
          <a:prstGeom prst="oval">
            <a:avLst/>
          </a:prstGeom>
          <a:solidFill>
            <a:srgbClr val="F1C40F"/>
          </a:solidFill>
          <a:ln/>
        </p:spPr>
      </p:sp>
      <p:sp>
        <p:nvSpPr>
          <p:cNvPr id="70" name="Text 68"/>
          <p:cNvSpPr/>
          <p:nvPr/>
        </p:nvSpPr>
        <p:spPr>
          <a:xfrm>
            <a:off x="6629400" y="135331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</a:rPr>
              <a:t>当社（提案）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00075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" y="152400"/>
            <a:ext cx="8705088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凡例・出典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04800" y="803225"/>
            <a:ext cx="422305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凡例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04800" y="1150739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251" y="1123801"/>
            <a:ext cx="130961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国内スタジオ（18社）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04800" y="1407914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33251" y="1380976"/>
            <a:ext cx="130005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海外スタジオ（11社）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04800" y="1665089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F1C40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33251" y="1638151"/>
            <a:ext cx="245103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当社（AIアニメスタジオ）提案ポジション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04800" y="1895326"/>
            <a:ext cx="422305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軸の定義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04800" y="2234952"/>
            <a:ext cx="422305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横軸: 受託メイン（0.0）⇔ オリジナル制作メイン（1.0）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04800" y="2434977"/>
            <a:ext cx="422305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判定基準: 売上構成・作品本数・IP保有主体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04800" y="2625477"/>
            <a:ext cx="422305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縦軸: スタジオ人数規模（対数スケール）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04800" y="2825502"/>
            <a:ext cx="422305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正社員・常駐スタッフ数（概数・推定値含む）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04800" y="3025527"/>
            <a:ext cx="422305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分類基準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04800" y="3346103"/>
            <a:ext cx="422305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受託メイン（0.0-0.3）: 他社IP制作が売上の大半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04800" y="3546128"/>
            <a:ext cx="422305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混合（0.3-0.7）: 受託とオリジナルのバランス型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04800" y="3746153"/>
            <a:ext cx="422305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オリジナルメイン（0.7-1.0）: 自社IP中心の事業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698950" y="803225"/>
            <a:ext cx="422305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主要データソース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698950" y="1142851"/>
            <a:ext cx="42230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各社公式サイト・会社概要ページ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4698950" y="1301502"/>
            <a:ext cx="42230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Wikipedia（日本語版・英語版）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4698950" y="1441103"/>
            <a:ext cx="42230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有価証券報告書（上場企業）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4698950" y="1580704"/>
            <a:ext cx="42230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求人サイト（マイナビ等）掲載の企業情報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4698950" y="1739354"/>
            <a:ext cx="42230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業界メディア（Natalie、CGWORLD等）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4698950" y="1898005"/>
            <a:ext cx="42230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海外メディア（Variety、Deadline、Animation Magazine等）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4698950" y="2056656"/>
            <a:ext cx="42230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企業データベース（Baseconnect、ZoomInfo等）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698950" y="2215307"/>
            <a:ext cx="422305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注意事項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698950" y="2535882"/>
            <a:ext cx="42230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非上場企業の従業員数は推定値を含みます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4698950" y="2694533"/>
            <a:ext cx="42230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受託/オリジナル比率は公開情報からの推定です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4698950" y="2853184"/>
            <a:ext cx="42230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設立時の人数は創業メンバー数の推定を含みます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4698950" y="3011835"/>
            <a:ext cx="42230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現在の人数は2024-2025年時点の最新情報に基づきます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4698950" y="3170486"/>
            <a:ext cx="42230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詳細なデータソースはリサーチレポート末尾に記載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ブランディング戦略リサーチ - ポジショニングマップ</dc:title>
  <dc:subject>PptxGenJS Presentation</dc:subject>
  <dc:creator>AIアニメスタジオ</dc:creator>
  <cp:lastModifiedBy>AIアニメスタジオ</cp:lastModifiedBy>
  <cp:revision>1</cp:revision>
  <dcterms:created xsi:type="dcterms:W3CDTF">2026-02-24T03:44:34Z</dcterms:created>
  <dcterms:modified xsi:type="dcterms:W3CDTF">2026-02-24T03:44:34Z</dcterms:modified>
</cp:coreProperties>
</file>